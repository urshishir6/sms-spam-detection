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35"/>
  </p:notesMasterIdLst>
  <p:sldIdLst>
    <p:sldId id="256" r:id="rId2"/>
    <p:sldId id="259" r:id="rId3"/>
    <p:sldId id="260" r:id="rId4"/>
    <p:sldId id="261" r:id="rId5"/>
    <p:sldId id="296" r:id="rId6"/>
    <p:sldId id="262" r:id="rId7"/>
    <p:sldId id="266" r:id="rId8"/>
    <p:sldId id="263" r:id="rId9"/>
    <p:sldId id="298" r:id="rId10"/>
    <p:sldId id="265" r:id="rId11"/>
    <p:sldId id="264" r:id="rId12"/>
    <p:sldId id="300" r:id="rId13"/>
    <p:sldId id="299" r:id="rId14"/>
    <p:sldId id="301" r:id="rId15"/>
    <p:sldId id="297" r:id="rId16"/>
    <p:sldId id="302" r:id="rId17"/>
    <p:sldId id="267" r:id="rId18"/>
    <p:sldId id="303" r:id="rId19"/>
    <p:sldId id="268" r:id="rId20"/>
    <p:sldId id="304" r:id="rId21"/>
    <p:sldId id="269" r:id="rId22"/>
    <p:sldId id="305" r:id="rId23"/>
    <p:sldId id="270" r:id="rId24"/>
    <p:sldId id="306" r:id="rId25"/>
    <p:sldId id="271" r:id="rId26"/>
    <p:sldId id="273" r:id="rId27"/>
    <p:sldId id="307" r:id="rId28"/>
    <p:sldId id="274" r:id="rId29"/>
    <p:sldId id="308" r:id="rId30"/>
    <p:sldId id="309" r:id="rId31"/>
    <p:sldId id="310" r:id="rId32"/>
    <p:sldId id="276" r:id="rId33"/>
    <p:sldId id="275" r:id="rId34"/>
  </p:sldIdLst>
  <p:sldSz cx="9144000" cy="5143500" type="screen16x9"/>
  <p:notesSz cx="6858000" cy="9144000"/>
  <p:embeddedFontLst>
    <p:embeddedFont>
      <p:font typeface="PT Sans" panose="020B0600000101010101" charset="0"/>
      <p:regular r:id="rId36"/>
      <p:bold r:id="rId37"/>
      <p:italic r:id="rId38"/>
      <p:boldItalic r:id="rId39"/>
    </p:embeddedFont>
    <p:embeddedFont>
      <p:font typeface="Britannic Bold" panose="020B0903060703020204" pitchFamily="34" charset="0"/>
      <p:regular r:id="rId40"/>
    </p:embeddedFont>
    <p:embeddedFont>
      <p:font typeface="Nunito Light" panose="020B0600000101010101" charset="0"/>
      <p:regular r:id="rId41"/>
      <p:italic r:id="rId42"/>
    </p:embeddedFont>
    <p:embeddedFont>
      <p:font typeface="Cairo" panose="020B0600000101010101" charset="-78"/>
      <p:regular r:id="rId43"/>
      <p:bold r:id="rId44"/>
    </p:embeddedFont>
    <p:embeddedFont>
      <p:font typeface="Raleway" panose="020B0600000101010101" charset="0"/>
      <p:regular r:id="rId45"/>
      <p:bold r:id="rId46"/>
      <p:italic r:id="rId47"/>
      <p:boldItalic r:id="rId48"/>
    </p:embeddedFont>
    <p:embeddedFont>
      <p:font typeface="Space Grotesk Medium" panose="020B0600000101010101" charset="0"/>
      <p:regular r:id="rId49"/>
      <p:bold r:id="rId50"/>
    </p:embeddedFont>
    <p:embeddedFont>
      <p:font typeface="Space Grotesk" panose="020B0600000101010101" charset="0"/>
      <p:regular r:id="rId51"/>
      <p:bold r:id="rId52"/>
    </p:embeddedFont>
    <p:embeddedFont>
      <p:font typeface="Open Sans" panose="020B0600000101010101" charset="0"/>
      <p:regular r:id="rId53"/>
      <p:bold r:id="rId54"/>
      <p:italic r:id="rId55"/>
      <p:boldItalic r:id="rId5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F0"/>
    <a:srgbClr val="1FC6D2"/>
    <a:srgbClr val="E2E4FC"/>
    <a:srgbClr val="58EE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2BE082A-89BF-4D3B-ACDE-1CCD34E8B883}">
  <a:tblStyle styleId="{F2BE082A-89BF-4D3B-ACDE-1CCD34E8B88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88E512-3FD8-4F64-925F-C9870166114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2" d="100"/>
          <a:sy n="62" d="100"/>
        </p:scale>
        <p:origin x="1374" y="13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7.fntdata"/><Relationship Id="rId47" Type="http://schemas.openxmlformats.org/officeDocument/2006/relationships/font" Target="fonts/font12.fntdata"/><Relationship Id="rId50" Type="http://schemas.openxmlformats.org/officeDocument/2006/relationships/font" Target="fonts/font15.fntdata"/><Relationship Id="rId55" Type="http://schemas.openxmlformats.org/officeDocument/2006/relationships/font" Target="fonts/font20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font" Target="fonts/font10.fntdata"/><Relationship Id="rId53" Type="http://schemas.openxmlformats.org/officeDocument/2006/relationships/font" Target="fonts/font18.fntdata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8.fntdata"/><Relationship Id="rId48" Type="http://schemas.openxmlformats.org/officeDocument/2006/relationships/font" Target="fonts/font13.fntdata"/><Relationship Id="rId56" Type="http://schemas.openxmlformats.org/officeDocument/2006/relationships/font" Target="fonts/font21.fntdata"/><Relationship Id="rId8" Type="http://schemas.openxmlformats.org/officeDocument/2006/relationships/slide" Target="slides/slide7.xml"/><Relationship Id="rId51" Type="http://schemas.openxmlformats.org/officeDocument/2006/relationships/font" Target="fonts/font16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46" Type="http://schemas.openxmlformats.org/officeDocument/2006/relationships/font" Target="fonts/font11.fntdata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6.fntdata"/><Relationship Id="rId54" Type="http://schemas.openxmlformats.org/officeDocument/2006/relationships/font" Target="fonts/font1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49" Type="http://schemas.openxmlformats.org/officeDocument/2006/relationships/font" Target="fonts/font14.fntdata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9.fntdata"/><Relationship Id="rId52" Type="http://schemas.openxmlformats.org/officeDocument/2006/relationships/font" Target="fonts/font17.fntdata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40371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54dda1946d_4_2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54dda1946d_4_2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84d99d1a72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184d99d1a72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84d99d1a72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184d99d1a72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07725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54dda1946d_4_27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54dda1946d_4_27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184d99d1a7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184d99d1a7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24748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54dda1946d_4_27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54dda1946d_4_27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42907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54dda1946d_4_2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54dda1946d_4_2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07634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54dda1946d_4_2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54dda1946d_4_2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46876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54dda1946d_4_27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54dda1946d_4_27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43312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184d99d1a72_0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184d99d1a72_0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54dda1946d_4_2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54dda1946d_4_2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14951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54dda1946d_4_27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54dda1946d_4_27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54dda1946d_4_27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54dda1946d_4_27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522441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54dda1946d_4_27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54dda1946d_4_27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54dda1946d_4_27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54dda1946d_4_27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500340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54dda1946d_4_27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54dda1946d_4_27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54dda1946d_4_27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54dda1946d_4_27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60016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1869b490b2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1869b490b2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18661f04b0b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18661f04b0b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674025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18a566a1a1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18a566a1a1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601606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18a566a1a1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18a566a1a1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110092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54dda1946d_4_27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54dda1946d_4_27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51614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d44c0c1fca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d44c0c1fca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2205375"/>
            <a:ext cx="5257800" cy="161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>
                <a:solidFill>
                  <a:srgbClr val="241160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885650"/>
            <a:ext cx="3690600" cy="468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0" y="0"/>
            <a:ext cx="4727801" cy="225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4047175" y="2388500"/>
            <a:ext cx="4383600" cy="16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4047175" y="1438750"/>
            <a:ext cx="1230300" cy="881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pic>
        <p:nvPicPr>
          <p:cNvPr id="15" name="Google Shape;1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4416200" y="2886625"/>
            <a:ext cx="4727801" cy="225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ubTitle" idx="1"/>
          </p:nvPr>
        </p:nvSpPr>
        <p:spPr>
          <a:xfrm>
            <a:off x="4911639" y="2679824"/>
            <a:ext cx="2424300" cy="152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2"/>
          </p:nvPr>
        </p:nvSpPr>
        <p:spPr>
          <a:xfrm>
            <a:off x="1808050" y="2679824"/>
            <a:ext cx="2424300" cy="152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3"/>
          </p:nvPr>
        </p:nvSpPr>
        <p:spPr>
          <a:xfrm>
            <a:off x="1808050" y="2244217"/>
            <a:ext cx="2424300" cy="44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4"/>
          </p:nvPr>
        </p:nvSpPr>
        <p:spPr>
          <a:xfrm>
            <a:off x="4911639" y="2244217"/>
            <a:ext cx="2424300" cy="44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31" name="Google Shape;31;p5"/>
          <p:cNvGrpSpPr/>
          <p:nvPr/>
        </p:nvGrpSpPr>
        <p:grpSpPr>
          <a:xfrm>
            <a:off x="0" y="4"/>
            <a:ext cx="9144004" cy="5143496"/>
            <a:chOff x="0" y="4"/>
            <a:chExt cx="9144004" cy="5143496"/>
          </a:xfrm>
        </p:grpSpPr>
        <p:pic>
          <p:nvPicPr>
            <p:cNvPr id="32" name="Google Shape;32;p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" name="Google Shape;33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" name="Google Shape;34;p5"/>
          <p:cNvGrpSpPr/>
          <p:nvPr/>
        </p:nvGrpSpPr>
        <p:grpSpPr>
          <a:xfrm rot="-10539848" flipH="1">
            <a:off x="6108563" y="4049075"/>
            <a:ext cx="4573901" cy="3479217"/>
            <a:chOff x="1522650" y="1117750"/>
            <a:chExt cx="4574075" cy="3479350"/>
          </a:xfrm>
        </p:grpSpPr>
        <p:sp>
          <p:nvSpPr>
            <p:cNvPr id="35" name="Google Shape;35;p5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5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39" name="Google Shape;39;p6"/>
          <p:cNvGrpSpPr/>
          <p:nvPr/>
        </p:nvGrpSpPr>
        <p:grpSpPr>
          <a:xfrm>
            <a:off x="0" y="4"/>
            <a:ext cx="9144004" cy="5143496"/>
            <a:chOff x="0" y="4"/>
            <a:chExt cx="9144004" cy="5143496"/>
          </a:xfrm>
        </p:grpSpPr>
        <p:pic>
          <p:nvPicPr>
            <p:cNvPr id="40" name="Google Shape;40;p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" name="Google Shape;41;p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2" name="Google Shape;42;p6"/>
          <p:cNvGrpSpPr/>
          <p:nvPr/>
        </p:nvGrpSpPr>
        <p:grpSpPr>
          <a:xfrm rot="-10539848" flipH="1">
            <a:off x="6108563" y="4049075"/>
            <a:ext cx="4573901" cy="3479217"/>
            <a:chOff x="1522650" y="1117750"/>
            <a:chExt cx="4574075" cy="3479350"/>
          </a:xfrm>
        </p:grpSpPr>
        <p:sp>
          <p:nvSpPr>
            <p:cNvPr id="43" name="Google Shape;43;p6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11975" y="829350"/>
            <a:ext cx="3993300" cy="9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subTitle" idx="1"/>
          </p:nvPr>
        </p:nvSpPr>
        <p:spPr>
          <a:xfrm>
            <a:off x="811975" y="1878550"/>
            <a:ext cx="39933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>
            <a:spLocks noGrp="1"/>
          </p:cNvSpPr>
          <p:nvPr>
            <p:ph type="pic" idx="2"/>
          </p:nvPr>
        </p:nvSpPr>
        <p:spPr>
          <a:xfrm>
            <a:off x="5088475" y="770400"/>
            <a:ext cx="3081600" cy="3602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grpSp>
        <p:nvGrpSpPr>
          <p:cNvPr id="49" name="Google Shape;49;p7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50" name="Google Shape;50;p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 flipH="1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" name="Google Shape;51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 flipH="1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2" name="Google Shape;52;p7"/>
          <p:cNvGrpSpPr/>
          <p:nvPr/>
        </p:nvGrpSpPr>
        <p:grpSpPr>
          <a:xfrm rot="10800000">
            <a:off x="6704226" y="3811697"/>
            <a:ext cx="4574075" cy="3479350"/>
            <a:chOff x="1522650" y="1117750"/>
            <a:chExt cx="4574075" cy="3479350"/>
          </a:xfrm>
        </p:grpSpPr>
        <p:sp>
          <p:nvSpPr>
            <p:cNvPr id="53" name="Google Shape;53;p7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7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10" y="0"/>
            <a:ext cx="9143991" cy="5143500"/>
            <a:chOff x="10" y="0"/>
            <a:chExt cx="9143991" cy="5143500"/>
          </a:xfrm>
        </p:grpSpPr>
        <p:pic>
          <p:nvPicPr>
            <p:cNvPr id="57" name="Google Shape;57;p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>
              <a:off x="10" y="0"/>
              <a:ext cx="3405191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" name="Google Shape;58;p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4416200" y="2886625"/>
              <a:ext cx="4727801" cy="22568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9" name="Google Shape;59;p8"/>
          <p:cNvGrpSpPr/>
          <p:nvPr/>
        </p:nvGrpSpPr>
        <p:grpSpPr>
          <a:xfrm rot="756538">
            <a:off x="5159567" y="-1927047"/>
            <a:ext cx="4574157" cy="3479412"/>
            <a:chOff x="1522650" y="1117750"/>
            <a:chExt cx="4574075" cy="3479350"/>
          </a:xfrm>
        </p:grpSpPr>
        <p:sp>
          <p:nvSpPr>
            <p:cNvPr id="60" name="Google Shape;60;p8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8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" name="Google Shape;62;p8"/>
          <p:cNvSpPr txBox="1">
            <a:spLocks noGrp="1"/>
          </p:cNvSpPr>
          <p:nvPr>
            <p:ph type="title"/>
          </p:nvPr>
        </p:nvSpPr>
        <p:spPr>
          <a:xfrm>
            <a:off x="3830000" y="17164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9"/>
          <p:cNvGrpSpPr/>
          <p:nvPr/>
        </p:nvGrpSpPr>
        <p:grpSpPr>
          <a:xfrm rot="756538">
            <a:off x="-714808" y="-2409347"/>
            <a:ext cx="4574157" cy="3479412"/>
            <a:chOff x="1522650" y="1117750"/>
            <a:chExt cx="4574075" cy="3479350"/>
          </a:xfrm>
        </p:grpSpPr>
        <p:sp>
          <p:nvSpPr>
            <p:cNvPr id="65" name="Google Shape;65;p9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9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" name="Google Shape;67;p9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68" name="Google Shape;68;p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 flipH="1">
              <a:off x="5738810" y="0"/>
              <a:ext cx="3405191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" name="Google Shape;6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 flipH="1">
              <a:off x="0" y="0"/>
              <a:ext cx="4727801" cy="22568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0" name="Google Shape;70;p9"/>
          <p:cNvSpPr txBox="1">
            <a:spLocks noGrp="1"/>
          </p:cNvSpPr>
          <p:nvPr>
            <p:ph type="title"/>
          </p:nvPr>
        </p:nvSpPr>
        <p:spPr>
          <a:xfrm>
            <a:off x="713225" y="15289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subTitle" idx="1"/>
          </p:nvPr>
        </p:nvSpPr>
        <p:spPr>
          <a:xfrm>
            <a:off x="713225" y="3640050"/>
            <a:ext cx="4872900" cy="45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5713200" cy="572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75" name="Google Shape;75;p10"/>
          <p:cNvGrpSpPr/>
          <p:nvPr/>
        </p:nvGrpSpPr>
        <p:grpSpPr>
          <a:xfrm>
            <a:off x="0" y="4"/>
            <a:ext cx="9144004" cy="5143496"/>
            <a:chOff x="0" y="4"/>
            <a:chExt cx="9144004" cy="5143496"/>
          </a:xfrm>
        </p:grpSpPr>
        <p:pic>
          <p:nvPicPr>
            <p:cNvPr id="76" name="Google Shape;76;p1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" name="Google Shape;77;p1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8" name="Google Shape;78;p10"/>
          <p:cNvGrpSpPr/>
          <p:nvPr/>
        </p:nvGrpSpPr>
        <p:grpSpPr>
          <a:xfrm>
            <a:off x="-896231" y="-2525369"/>
            <a:ext cx="11703669" cy="10221582"/>
            <a:chOff x="-896231" y="-2525369"/>
            <a:chExt cx="11703669" cy="10221582"/>
          </a:xfrm>
        </p:grpSpPr>
        <p:grpSp>
          <p:nvGrpSpPr>
            <p:cNvPr id="79" name="Google Shape;79;p10"/>
            <p:cNvGrpSpPr/>
            <p:nvPr/>
          </p:nvGrpSpPr>
          <p:grpSpPr>
            <a:xfrm rot="-10539848" flipH="1">
              <a:off x="6108563" y="4049075"/>
              <a:ext cx="4573901" cy="3479217"/>
              <a:chOff x="1522650" y="1117750"/>
              <a:chExt cx="4574075" cy="3479350"/>
            </a:xfrm>
          </p:grpSpPr>
          <p:sp>
            <p:nvSpPr>
              <p:cNvPr id="80" name="Google Shape;80;p10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avLst/>
                <a:gdLst/>
                <a:ahLst/>
                <a:cxnLst/>
                <a:rect l="l" t="t" r="r" b="b"/>
                <a:pathLst>
                  <a:path w="151633" h="128684" extrusionOk="0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10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avLst/>
                <a:gdLst/>
                <a:ahLst/>
                <a:cxnLst/>
                <a:rect l="l" t="t" r="r" b="b"/>
                <a:pathLst>
                  <a:path w="96695" h="42334" extrusionOk="0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2" name="Google Shape;82;p10"/>
            <p:cNvGrpSpPr/>
            <p:nvPr/>
          </p:nvGrpSpPr>
          <p:grpSpPr>
            <a:xfrm>
              <a:off x="-896231" y="-2525369"/>
              <a:ext cx="4573618" cy="3479002"/>
              <a:chOff x="1522650" y="1117750"/>
              <a:chExt cx="4574075" cy="3479350"/>
            </a:xfrm>
          </p:grpSpPr>
          <p:sp>
            <p:nvSpPr>
              <p:cNvPr id="83" name="Google Shape;83;p10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avLst/>
                <a:gdLst/>
                <a:ahLst/>
                <a:cxnLst/>
                <a:rect l="l" t="t" r="r" b="b"/>
                <a:pathLst>
                  <a:path w="151633" h="128684" extrusionOk="0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10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avLst/>
                <a:gdLst/>
                <a:ahLst/>
                <a:cxnLst/>
                <a:rect l="l" t="t" r="r" b="b"/>
                <a:pathLst>
                  <a:path w="96695" h="42334" extrusionOk="0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"/>
          <p:cNvSpPr txBox="1">
            <a:spLocks noGrp="1"/>
          </p:cNvSpPr>
          <p:nvPr>
            <p:ph type="title" hasCustomPrompt="1"/>
          </p:nvPr>
        </p:nvSpPr>
        <p:spPr>
          <a:xfrm>
            <a:off x="4076350" y="2296400"/>
            <a:ext cx="3843300" cy="10851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7" name="Google Shape;87;p11"/>
          <p:cNvSpPr txBox="1">
            <a:spLocks noGrp="1"/>
          </p:cNvSpPr>
          <p:nvPr>
            <p:ph type="subTitle" idx="1"/>
          </p:nvPr>
        </p:nvSpPr>
        <p:spPr>
          <a:xfrm>
            <a:off x="4076350" y="3426700"/>
            <a:ext cx="38433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88" name="Google Shape;8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4416200" y="2886625"/>
            <a:ext cx="4727801" cy="225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oogle Shape;111;p14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112" name="Google Shape;112;p1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 flipH="1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3" name="Google Shape;113;p1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 flipH="1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4" name="Google Shape;114;p14"/>
          <p:cNvGrpSpPr/>
          <p:nvPr/>
        </p:nvGrpSpPr>
        <p:grpSpPr>
          <a:xfrm rot="10800000">
            <a:off x="6704226" y="3811697"/>
            <a:ext cx="4574075" cy="3479350"/>
            <a:chOff x="1522650" y="1117750"/>
            <a:chExt cx="4574075" cy="3479350"/>
          </a:xfrm>
        </p:grpSpPr>
        <p:sp>
          <p:nvSpPr>
            <p:cNvPr id="115" name="Google Shape;115;p14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4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7" name="Google Shape;117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Google Shape;119;p15"/>
          <p:cNvGrpSpPr/>
          <p:nvPr/>
        </p:nvGrpSpPr>
        <p:grpSpPr>
          <a:xfrm>
            <a:off x="0" y="4"/>
            <a:ext cx="9144004" cy="5143496"/>
            <a:chOff x="0" y="4"/>
            <a:chExt cx="9144004" cy="5143496"/>
          </a:xfrm>
        </p:grpSpPr>
        <p:pic>
          <p:nvPicPr>
            <p:cNvPr id="120" name="Google Shape;120;p1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1" name="Google Shape;121;p1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2" name="Google Shape;122;p15"/>
          <p:cNvGrpSpPr/>
          <p:nvPr/>
        </p:nvGrpSpPr>
        <p:grpSpPr>
          <a:xfrm rot="-10539848" flipH="1">
            <a:off x="6108563" y="4049075"/>
            <a:ext cx="4573901" cy="3479217"/>
            <a:chOff x="1522650" y="1117750"/>
            <a:chExt cx="4574075" cy="3479350"/>
          </a:xfrm>
        </p:grpSpPr>
        <p:sp>
          <p:nvSpPr>
            <p:cNvPr id="123" name="Google Shape;123;p15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5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5"/>
          <p:cNvSpPr txBox="1">
            <a:spLocks noGrp="1"/>
          </p:cNvSpPr>
          <p:nvPr>
            <p:ph type="title"/>
          </p:nvPr>
        </p:nvSpPr>
        <p:spPr>
          <a:xfrm>
            <a:off x="3889175" y="1000050"/>
            <a:ext cx="3205500" cy="105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15"/>
          <p:cNvSpPr txBox="1">
            <a:spLocks noGrp="1"/>
          </p:cNvSpPr>
          <p:nvPr>
            <p:ph type="subTitle" idx="1"/>
          </p:nvPr>
        </p:nvSpPr>
        <p:spPr>
          <a:xfrm>
            <a:off x="3889175" y="2131950"/>
            <a:ext cx="4185300" cy="201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2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oogle Shape;141;p17"/>
          <p:cNvGrpSpPr/>
          <p:nvPr/>
        </p:nvGrpSpPr>
        <p:grpSpPr>
          <a:xfrm>
            <a:off x="0" y="4"/>
            <a:ext cx="9144004" cy="5143496"/>
            <a:chOff x="0" y="4"/>
            <a:chExt cx="9144004" cy="5143496"/>
          </a:xfrm>
        </p:grpSpPr>
        <p:pic>
          <p:nvPicPr>
            <p:cNvPr id="142" name="Google Shape;142;p1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" name="Google Shape;143;p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4" name="Google Shape;144;p17"/>
          <p:cNvGrpSpPr/>
          <p:nvPr/>
        </p:nvGrpSpPr>
        <p:grpSpPr>
          <a:xfrm rot="-10539848" flipH="1">
            <a:off x="6108563" y="4049075"/>
            <a:ext cx="4573901" cy="3479217"/>
            <a:chOff x="1522650" y="1117750"/>
            <a:chExt cx="4574075" cy="3479350"/>
          </a:xfrm>
        </p:grpSpPr>
        <p:sp>
          <p:nvSpPr>
            <p:cNvPr id="145" name="Google Shape;145;p17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7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7" name="Google Shape;147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17"/>
          <p:cNvSpPr txBox="1">
            <a:spLocks noGrp="1"/>
          </p:cNvSpPr>
          <p:nvPr>
            <p:ph type="subTitle" idx="1"/>
          </p:nvPr>
        </p:nvSpPr>
        <p:spPr>
          <a:xfrm>
            <a:off x="719975" y="1164450"/>
            <a:ext cx="3748800" cy="118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oogle Shape;159;p19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160" name="Google Shape;160;p1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 flipH="1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" name="Google Shape;161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 flipH="1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2" name="Google Shape;162;p19"/>
          <p:cNvGrpSpPr/>
          <p:nvPr/>
        </p:nvGrpSpPr>
        <p:grpSpPr>
          <a:xfrm rot="10800000">
            <a:off x="6704226" y="3811697"/>
            <a:ext cx="4574075" cy="3479350"/>
            <a:chOff x="1522650" y="1117750"/>
            <a:chExt cx="4574075" cy="3479350"/>
          </a:xfrm>
        </p:grpSpPr>
        <p:sp>
          <p:nvSpPr>
            <p:cNvPr id="163" name="Google Shape;163;p19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19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5" name="Google Shape;165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19"/>
          <p:cNvSpPr txBox="1">
            <a:spLocks noGrp="1"/>
          </p:cNvSpPr>
          <p:nvPr>
            <p:ph type="subTitle" idx="1"/>
          </p:nvPr>
        </p:nvSpPr>
        <p:spPr>
          <a:xfrm>
            <a:off x="865525" y="2741725"/>
            <a:ext cx="2189400" cy="18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19"/>
          <p:cNvSpPr txBox="1">
            <a:spLocks noGrp="1"/>
          </p:cNvSpPr>
          <p:nvPr>
            <p:ph type="subTitle" idx="2"/>
          </p:nvPr>
        </p:nvSpPr>
        <p:spPr>
          <a:xfrm>
            <a:off x="3433873" y="2741725"/>
            <a:ext cx="2189400" cy="18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19"/>
          <p:cNvSpPr txBox="1">
            <a:spLocks noGrp="1"/>
          </p:cNvSpPr>
          <p:nvPr>
            <p:ph type="subTitle" idx="3"/>
          </p:nvPr>
        </p:nvSpPr>
        <p:spPr>
          <a:xfrm>
            <a:off x="6002228" y="2741725"/>
            <a:ext cx="2189400" cy="18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19"/>
          <p:cNvSpPr txBox="1">
            <a:spLocks noGrp="1"/>
          </p:cNvSpPr>
          <p:nvPr>
            <p:ph type="subTitle" idx="4"/>
          </p:nvPr>
        </p:nvSpPr>
        <p:spPr>
          <a:xfrm>
            <a:off x="865525" y="2046500"/>
            <a:ext cx="2189400" cy="7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70" name="Google Shape;170;p19"/>
          <p:cNvSpPr txBox="1">
            <a:spLocks noGrp="1"/>
          </p:cNvSpPr>
          <p:nvPr>
            <p:ph type="subTitle" idx="5"/>
          </p:nvPr>
        </p:nvSpPr>
        <p:spPr>
          <a:xfrm>
            <a:off x="3433878" y="2046500"/>
            <a:ext cx="2189400" cy="7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71" name="Google Shape;171;p19"/>
          <p:cNvSpPr txBox="1">
            <a:spLocks noGrp="1"/>
          </p:cNvSpPr>
          <p:nvPr>
            <p:ph type="subTitle" idx="6"/>
          </p:nvPr>
        </p:nvSpPr>
        <p:spPr>
          <a:xfrm>
            <a:off x="6002231" y="2046500"/>
            <a:ext cx="2189400" cy="7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" name="Google Shape;173;p20"/>
          <p:cNvGrpSpPr/>
          <p:nvPr/>
        </p:nvGrpSpPr>
        <p:grpSpPr>
          <a:xfrm>
            <a:off x="0" y="4"/>
            <a:ext cx="9144004" cy="5143496"/>
            <a:chOff x="0" y="4"/>
            <a:chExt cx="9144004" cy="5143496"/>
          </a:xfrm>
        </p:grpSpPr>
        <p:pic>
          <p:nvPicPr>
            <p:cNvPr id="174" name="Google Shape;174;p2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5" name="Google Shape;175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6" name="Google Shape;176;p20"/>
          <p:cNvGrpSpPr/>
          <p:nvPr/>
        </p:nvGrpSpPr>
        <p:grpSpPr>
          <a:xfrm rot="-10539848" flipH="1">
            <a:off x="6108563" y="4049075"/>
            <a:ext cx="4573901" cy="3479217"/>
            <a:chOff x="1522650" y="1117750"/>
            <a:chExt cx="4574075" cy="3479350"/>
          </a:xfrm>
        </p:grpSpPr>
        <p:sp>
          <p:nvSpPr>
            <p:cNvPr id="177" name="Google Shape;177;p20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20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9" name="Google Shape;179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20"/>
          <p:cNvSpPr txBox="1">
            <a:spLocks noGrp="1"/>
          </p:cNvSpPr>
          <p:nvPr>
            <p:ph type="subTitle" idx="1"/>
          </p:nvPr>
        </p:nvSpPr>
        <p:spPr>
          <a:xfrm>
            <a:off x="1225674" y="1659425"/>
            <a:ext cx="32187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20"/>
          <p:cNvSpPr txBox="1">
            <a:spLocks noGrp="1"/>
          </p:cNvSpPr>
          <p:nvPr>
            <p:ph type="subTitle" idx="2"/>
          </p:nvPr>
        </p:nvSpPr>
        <p:spPr>
          <a:xfrm>
            <a:off x="5052125" y="1659425"/>
            <a:ext cx="32187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20"/>
          <p:cNvSpPr txBox="1">
            <a:spLocks noGrp="1"/>
          </p:cNvSpPr>
          <p:nvPr>
            <p:ph type="subTitle" idx="3"/>
          </p:nvPr>
        </p:nvSpPr>
        <p:spPr>
          <a:xfrm>
            <a:off x="1225674" y="3320000"/>
            <a:ext cx="32187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20"/>
          <p:cNvSpPr txBox="1">
            <a:spLocks noGrp="1"/>
          </p:cNvSpPr>
          <p:nvPr>
            <p:ph type="subTitle" idx="4"/>
          </p:nvPr>
        </p:nvSpPr>
        <p:spPr>
          <a:xfrm>
            <a:off x="5052125" y="3320000"/>
            <a:ext cx="32187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20"/>
          <p:cNvSpPr txBox="1">
            <a:spLocks noGrp="1"/>
          </p:cNvSpPr>
          <p:nvPr>
            <p:ph type="subTitle" idx="5"/>
          </p:nvPr>
        </p:nvSpPr>
        <p:spPr>
          <a:xfrm>
            <a:off x="1225675" y="1331675"/>
            <a:ext cx="3218700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85" name="Google Shape;185;p20"/>
          <p:cNvSpPr txBox="1">
            <a:spLocks noGrp="1"/>
          </p:cNvSpPr>
          <p:nvPr>
            <p:ph type="subTitle" idx="6"/>
          </p:nvPr>
        </p:nvSpPr>
        <p:spPr>
          <a:xfrm>
            <a:off x="1225675" y="2992275"/>
            <a:ext cx="3218700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86" name="Google Shape;186;p20"/>
          <p:cNvSpPr txBox="1">
            <a:spLocks noGrp="1"/>
          </p:cNvSpPr>
          <p:nvPr>
            <p:ph type="subTitle" idx="7"/>
          </p:nvPr>
        </p:nvSpPr>
        <p:spPr>
          <a:xfrm>
            <a:off x="5052099" y="1331675"/>
            <a:ext cx="3218700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87" name="Google Shape;187;p20"/>
          <p:cNvSpPr txBox="1">
            <a:spLocks noGrp="1"/>
          </p:cNvSpPr>
          <p:nvPr>
            <p:ph type="subTitle" idx="8"/>
          </p:nvPr>
        </p:nvSpPr>
        <p:spPr>
          <a:xfrm>
            <a:off x="5052099" y="2992275"/>
            <a:ext cx="3218700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" name="Google Shape;189;p21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190" name="Google Shape;190;p21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 flipH="1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1" name="Google Shape;191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 flipH="1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2" name="Google Shape;192;p21"/>
          <p:cNvGrpSpPr/>
          <p:nvPr/>
        </p:nvGrpSpPr>
        <p:grpSpPr>
          <a:xfrm rot="10800000">
            <a:off x="6704226" y="3811697"/>
            <a:ext cx="4574075" cy="3479350"/>
            <a:chOff x="1522650" y="1117750"/>
            <a:chExt cx="4574075" cy="3479350"/>
          </a:xfrm>
        </p:grpSpPr>
        <p:sp>
          <p:nvSpPr>
            <p:cNvPr id="193" name="Google Shape;193;p21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21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5" name="Google Shape;195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21"/>
          <p:cNvSpPr txBox="1">
            <a:spLocks noGrp="1"/>
          </p:cNvSpPr>
          <p:nvPr>
            <p:ph type="subTitle" idx="1"/>
          </p:nvPr>
        </p:nvSpPr>
        <p:spPr>
          <a:xfrm>
            <a:off x="1162025" y="1656927"/>
            <a:ext cx="1975200" cy="11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21"/>
          <p:cNvSpPr txBox="1">
            <a:spLocks noGrp="1"/>
          </p:cNvSpPr>
          <p:nvPr>
            <p:ph type="subTitle" idx="2"/>
          </p:nvPr>
        </p:nvSpPr>
        <p:spPr>
          <a:xfrm>
            <a:off x="3782975" y="1656925"/>
            <a:ext cx="1972200" cy="11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21"/>
          <p:cNvSpPr txBox="1">
            <a:spLocks noGrp="1"/>
          </p:cNvSpPr>
          <p:nvPr>
            <p:ph type="subTitle" idx="3"/>
          </p:nvPr>
        </p:nvSpPr>
        <p:spPr>
          <a:xfrm>
            <a:off x="1162025" y="3387221"/>
            <a:ext cx="1975200" cy="11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21"/>
          <p:cNvSpPr txBox="1">
            <a:spLocks noGrp="1"/>
          </p:cNvSpPr>
          <p:nvPr>
            <p:ph type="subTitle" idx="4"/>
          </p:nvPr>
        </p:nvSpPr>
        <p:spPr>
          <a:xfrm>
            <a:off x="3782975" y="3387221"/>
            <a:ext cx="1975200" cy="11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21"/>
          <p:cNvSpPr txBox="1">
            <a:spLocks noGrp="1"/>
          </p:cNvSpPr>
          <p:nvPr>
            <p:ph type="subTitle" idx="5"/>
          </p:nvPr>
        </p:nvSpPr>
        <p:spPr>
          <a:xfrm>
            <a:off x="6403925" y="1656927"/>
            <a:ext cx="1975200" cy="11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21"/>
          <p:cNvSpPr txBox="1">
            <a:spLocks noGrp="1"/>
          </p:cNvSpPr>
          <p:nvPr>
            <p:ph type="subTitle" idx="6"/>
          </p:nvPr>
        </p:nvSpPr>
        <p:spPr>
          <a:xfrm>
            <a:off x="6403925" y="3387221"/>
            <a:ext cx="1975200" cy="11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21"/>
          <p:cNvSpPr txBox="1">
            <a:spLocks noGrp="1"/>
          </p:cNvSpPr>
          <p:nvPr>
            <p:ph type="subTitle" idx="7"/>
          </p:nvPr>
        </p:nvSpPr>
        <p:spPr>
          <a:xfrm>
            <a:off x="1162025" y="1359241"/>
            <a:ext cx="1975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03" name="Google Shape;203;p21"/>
          <p:cNvSpPr txBox="1">
            <a:spLocks noGrp="1"/>
          </p:cNvSpPr>
          <p:nvPr>
            <p:ph type="subTitle" idx="8"/>
          </p:nvPr>
        </p:nvSpPr>
        <p:spPr>
          <a:xfrm>
            <a:off x="3782975" y="1359241"/>
            <a:ext cx="1972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04" name="Google Shape;204;p21"/>
          <p:cNvSpPr txBox="1">
            <a:spLocks noGrp="1"/>
          </p:cNvSpPr>
          <p:nvPr>
            <p:ph type="subTitle" idx="9"/>
          </p:nvPr>
        </p:nvSpPr>
        <p:spPr>
          <a:xfrm>
            <a:off x="6403925" y="1359241"/>
            <a:ext cx="19728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05" name="Google Shape;205;p21"/>
          <p:cNvSpPr txBox="1">
            <a:spLocks noGrp="1"/>
          </p:cNvSpPr>
          <p:nvPr>
            <p:ph type="subTitle" idx="13"/>
          </p:nvPr>
        </p:nvSpPr>
        <p:spPr>
          <a:xfrm>
            <a:off x="1162025" y="3086317"/>
            <a:ext cx="1975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06" name="Google Shape;206;p21"/>
          <p:cNvSpPr txBox="1">
            <a:spLocks noGrp="1"/>
          </p:cNvSpPr>
          <p:nvPr>
            <p:ph type="subTitle" idx="14"/>
          </p:nvPr>
        </p:nvSpPr>
        <p:spPr>
          <a:xfrm>
            <a:off x="3782975" y="3086317"/>
            <a:ext cx="1972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07" name="Google Shape;207;p21"/>
          <p:cNvSpPr txBox="1">
            <a:spLocks noGrp="1"/>
          </p:cNvSpPr>
          <p:nvPr>
            <p:ph type="subTitle" idx="15"/>
          </p:nvPr>
        </p:nvSpPr>
        <p:spPr>
          <a:xfrm>
            <a:off x="6403925" y="3086317"/>
            <a:ext cx="19728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2"/>
          <p:cNvSpPr txBox="1">
            <a:spLocks noGrp="1"/>
          </p:cNvSpPr>
          <p:nvPr>
            <p:ph type="title" hasCustomPrompt="1"/>
          </p:nvPr>
        </p:nvSpPr>
        <p:spPr>
          <a:xfrm>
            <a:off x="1200575" y="2266166"/>
            <a:ext cx="2739300" cy="6675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1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10" name="Google Shape;210;p22"/>
          <p:cNvSpPr txBox="1">
            <a:spLocks noGrp="1"/>
          </p:cNvSpPr>
          <p:nvPr>
            <p:ph type="subTitle" idx="1"/>
          </p:nvPr>
        </p:nvSpPr>
        <p:spPr>
          <a:xfrm>
            <a:off x="1200575" y="2948884"/>
            <a:ext cx="27393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11" name="Google Shape;211;p22"/>
          <p:cNvSpPr txBox="1">
            <a:spLocks noGrp="1"/>
          </p:cNvSpPr>
          <p:nvPr>
            <p:ph type="title" idx="2" hasCustomPrompt="1"/>
          </p:nvPr>
        </p:nvSpPr>
        <p:spPr>
          <a:xfrm>
            <a:off x="1200575" y="977950"/>
            <a:ext cx="2739300" cy="6663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1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12" name="Google Shape;212;p22"/>
          <p:cNvSpPr txBox="1">
            <a:spLocks noGrp="1"/>
          </p:cNvSpPr>
          <p:nvPr>
            <p:ph type="subTitle" idx="3"/>
          </p:nvPr>
        </p:nvSpPr>
        <p:spPr>
          <a:xfrm>
            <a:off x="1200575" y="1669422"/>
            <a:ext cx="2739300" cy="3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13" name="Google Shape;213;p22"/>
          <p:cNvSpPr txBox="1">
            <a:spLocks noGrp="1"/>
          </p:cNvSpPr>
          <p:nvPr>
            <p:ph type="title" idx="4" hasCustomPrompt="1"/>
          </p:nvPr>
        </p:nvSpPr>
        <p:spPr>
          <a:xfrm>
            <a:off x="1200575" y="3555582"/>
            <a:ext cx="2739300" cy="6675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1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14" name="Google Shape;214;p22"/>
          <p:cNvSpPr txBox="1">
            <a:spLocks noGrp="1"/>
          </p:cNvSpPr>
          <p:nvPr>
            <p:ph type="subTitle" idx="5"/>
          </p:nvPr>
        </p:nvSpPr>
        <p:spPr>
          <a:xfrm>
            <a:off x="1200575" y="4238300"/>
            <a:ext cx="27393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pic>
        <p:nvPicPr>
          <p:cNvPr id="215" name="Google Shape;215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0" y="0"/>
            <a:ext cx="4727801" cy="225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3"/>
          <p:cNvSpPr txBox="1">
            <a:spLocks noGrp="1"/>
          </p:cNvSpPr>
          <p:nvPr>
            <p:ph type="title"/>
          </p:nvPr>
        </p:nvSpPr>
        <p:spPr>
          <a:xfrm>
            <a:off x="713225" y="747263"/>
            <a:ext cx="3281700" cy="95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23"/>
          <p:cNvSpPr txBox="1">
            <a:spLocks noGrp="1"/>
          </p:cNvSpPr>
          <p:nvPr>
            <p:ph type="subTitle" idx="1"/>
          </p:nvPr>
        </p:nvSpPr>
        <p:spPr>
          <a:xfrm>
            <a:off x="713225" y="1584449"/>
            <a:ext cx="32817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pic>
        <p:nvPicPr>
          <p:cNvPr id="219" name="Google Shape;219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0" y="0"/>
            <a:ext cx="4727801" cy="225687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3"/>
          <p:cNvSpPr txBox="1"/>
          <p:nvPr/>
        </p:nvSpPr>
        <p:spPr>
          <a:xfrm>
            <a:off x="713225" y="3410538"/>
            <a:ext cx="3278700" cy="7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CREDITS:</a:t>
            </a:r>
            <a:r>
              <a:rPr lang="en" sz="10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 This presentation template was created by </a:t>
            </a:r>
            <a:r>
              <a:rPr lang="en" sz="1000" b="1" u="sng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, and includes icons by </a:t>
            </a:r>
            <a:r>
              <a:rPr lang="en" sz="1000" b="1" u="sng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, and infographics &amp; images by </a:t>
            </a:r>
            <a:r>
              <a:rPr lang="en" sz="1000" b="1" u="sng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  <a:hlinkClick r:id="rId5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Freepik</a:t>
            </a:r>
            <a:r>
              <a:rPr lang="en" sz="1000" b="1" u="sng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endParaRPr sz="1000" b="1" u="sng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24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223" name="Google Shape;223;p2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 flipH="1">
              <a:off x="0" y="0"/>
              <a:ext cx="4727801" cy="2256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4" name="Google Shape;224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 flipH="1">
              <a:off x="5738810" y="0"/>
              <a:ext cx="3405191" cy="5143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5" name="Google Shape;225;p24"/>
          <p:cNvGrpSpPr/>
          <p:nvPr/>
        </p:nvGrpSpPr>
        <p:grpSpPr>
          <a:xfrm rot="756538">
            <a:off x="-1069833" y="-1842572"/>
            <a:ext cx="4574157" cy="3479412"/>
            <a:chOff x="1522650" y="1117750"/>
            <a:chExt cx="4574075" cy="3479350"/>
          </a:xfrm>
        </p:grpSpPr>
        <p:sp>
          <p:nvSpPr>
            <p:cNvPr id="226" name="Google Shape;226;p24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4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oogle Shape;229;p25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230" name="Google Shape;230;p2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 flipH="1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1" name="Google Shape;231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 flipH="1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2" name="Google Shape;232;p25"/>
          <p:cNvGrpSpPr/>
          <p:nvPr/>
        </p:nvGrpSpPr>
        <p:grpSpPr>
          <a:xfrm>
            <a:off x="-1845124" y="-2180828"/>
            <a:ext cx="12652562" cy="9877041"/>
            <a:chOff x="-1845124" y="-2180828"/>
            <a:chExt cx="12652562" cy="9877041"/>
          </a:xfrm>
        </p:grpSpPr>
        <p:grpSp>
          <p:nvGrpSpPr>
            <p:cNvPr id="233" name="Google Shape;233;p25"/>
            <p:cNvGrpSpPr/>
            <p:nvPr/>
          </p:nvGrpSpPr>
          <p:grpSpPr>
            <a:xfrm>
              <a:off x="-1845124" y="-2180828"/>
              <a:ext cx="4574075" cy="3479350"/>
              <a:chOff x="1522650" y="1117750"/>
              <a:chExt cx="4574075" cy="3479350"/>
            </a:xfrm>
          </p:grpSpPr>
          <p:sp>
            <p:nvSpPr>
              <p:cNvPr id="234" name="Google Shape;234;p25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avLst/>
                <a:gdLst/>
                <a:ahLst/>
                <a:cxnLst/>
                <a:rect l="l" t="t" r="r" b="b"/>
                <a:pathLst>
                  <a:path w="151633" h="128684" extrusionOk="0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25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avLst/>
                <a:gdLst/>
                <a:ahLst/>
                <a:cxnLst/>
                <a:rect l="l" t="t" r="r" b="b"/>
                <a:pathLst>
                  <a:path w="96695" h="42334" extrusionOk="0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6" name="Google Shape;236;p25"/>
            <p:cNvGrpSpPr/>
            <p:nvPr/>
          </p:nvGrpSpPr>
          <p:grpSpPr>
            <a:xfrm rot="-10539848" flipH="1">
              <a:off x="6108563" y="4049075"/>
              <a:ext cx="4573901" cy="3479217"/>
              <a:chOff x="1522650" y="1117750"/>
              <a:chExt cx="4574075" cy="3479350"/>
            </a:xfrm>
          </p:grpSpPr>
          <p:sp>
            <p:nvSpPr>
              <p:cNvPr id="237" name="Google Shape;237;p25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avLst/>
                <a:gdLst/>
                <a:ahLst/>
                <a:cxnLst/>
                <a:rect l="l" t="t" r="r" b="b"/>
                <a:pathLst>
                  <a:path w="151633" h="128684" extrusionOk="0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25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avLst/>
                <a:gdLst/>
                <a:ahLst/>
                <a:cxnLst/>
                <a:rect l="l" t="t" r="r" b="b"/>
                <a:pathLst>
                  <a:path w="96695" h="42334" extrusionOk="0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○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■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○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■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○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■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  <p:sldLayoutId id="2147483661" r:id="rId12"/>
    <p:sldLayoutId id="2147483663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mailto:customersqueries@netvision.uk.com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9" name="Google Shape;249;p29"/>
          <p:cNvGrpSpPr/>
          <p:nvPr/>
        </p:nvGrpSpPr>
        <p:grpSpPr>
          <a:xfrm rot="756538">
            <a:off x="-943408" y="-1494947"/>
            <a:ext cx="4574157" cy="3479412"/>
            <a:chOff x="1522650" y="1117750"/>
            <a:chExt cx="4574075" cy="3479350"/>
          </a:xfrm>
        </p:grpSpPr>
        <p:sp>
          <p:nvSpPr>
            <p:cNvPr id="250" name="Google Shape;250;p29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9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52" name="Google Shape;25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 flipH="1">
            <a:off x="7923500" y="0"/>
            <a:ext cx="340519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9"/>
          <p:cNvSpPr txBox="1">
            <a:spLocks noGrp="1"/>
          </p:cNvSpPr>
          <p:nvPr>
            <p:ph type="ctrTitle"/>
          </p:nvPr>
        </p:nvSpPr>
        <p:spPr>
          <a:xfrm>
            <a:off x="713224" y="2205375"/>
            <a:ext cx="7760215" cy="161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/>
              <a:t>A Transformer-Based Classification: Semantic Context Evaluation for Mobile Spam Message Detection</a:t>
            </a:r>
            <a:endParaRPr sz="3600" b="1" dirty="0">
              <a:solidFill>
                <a:schemeClr val="dk1"/>
              </a:solidFill>
            </a:endParaRPr>
          </a:p>
        </p:txBody>
      </p:sp>
      <p:sp>
        <p:nvSpPr>
          <p:cNvPr id="254" name="Google Shape;254;p29"/>
          <p:cNvSpPr txBox="1">
            <a:spLocks noGrp="1"/>
          </p:cNvSpPr>
          <p:nvPr>
            <p:ph type="subTitle" idx="1"/>
          </p:nvPr>
        </p:nvSpPr>
        <p:spPr>
          <a:xfrm>
            <a:off x="713225" y="3885650"/>
            <a:ext cx="5260856" cy="4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College of Global AI Convergence, Seoul Christian University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4A10AB-4D2F-AE5F-DAB3-8897835CB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4508" y="138537"/>
            <a:ext cx="1389540" cy="543733"/>
          </a:xfrm>
          <a:prstGeom prst="rect">
            <a:avLst/>
          </a:prstGeom>
        </p:spPr>
      </p:pic>
      <p:sp>
        <p:nvSpPr>
          <p:cNvPr id="9" name="Google Shape;253;p29"/>
          <p:cNvSpPr txBox="1">
            <a:spLocks/>
          </p:cNvSpPr>
          <p:nvPr/>
        </p:nvSpPr>
        <p:spPr>
          <a:xfrm>
            <a:off x="713224" y="1072662"/>
            <a:ext cx="4430276" cy="474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pace Grotesk"/>
              <a:buNone/>
              <a:defRPr sz="4800" b="0" i="0" u="none" strike="noStrike" cap="none" spc="0">
                <a:solidFill>
                  <a:srgbClr val="241160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pace Grotesk"/>
              <a:buNone/>
              <a:defRPr sz="5200" b="1" i="0" u="none" strike="noStrike" cap="none" spc="0">
                <a:solidFill>
                  <a:srgbClr val="191919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pace Grotesk"/>
              <a:buNone/>
              <a:defRPr sz="5200" b="1" i="0" u="none" strike="noStrike" cap="none" spc="0">
                <a:solidFill>
                  <a:srgbClr val="191919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pace Grotesk"/>
              <a:buNone/>
              <a:defRPr sz="5200" b="1" i="0" u="none" strike="noStrike" cap="none" spc="0">
                <a:solidFill>
                  <a:srgbClr val="191919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pace Grotesk"/>
              <a:buNone/>
              <a:defRPr sz="5200" b="1" i="0" u="none" strike="noStrike" cap="none" spc="0">
                <a:solidFill>
                  <a:srgbClr val="191919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pace Grotesk"/>
              <a:buNone/>
              <a:defRPr sz="5200" b="1" i="0" u="none" strike="noStrike" cap="none" spc="0">
                <a:solidFill>
                  <a:srgbClr val="191919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pace Grotesk"/>
              <a:buNone/>
              <a:defRPr sz="5200" b="1" i="0" u="none" strike="noStrike" cap="none" spc="0">
                <a:solidFill>
                  <a:srgbClr val="191919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pace Grotesk"/>
              <a:buNone/>
              <a:defRPr sz="5200" b="1" i="0" u="none" strike="noStrike" cap="none" spc="0">
                <a:solidFill>
                  <a:srgbClr val="191919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pace Grotesk"/>
              <a:buNone/>
              <a:defRPr sz="5200" b="1" i="0" u="none" strike="noStrike" cap="none" spc="0">
                <a:solidFill>
                  <a:srgbClr val="191919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r>
              <a:rPr lang="en-US" sz="1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Final Defense for Project of Project Based Learning 2026</a:t>
            </a:r>
            <a:endParaRPr lang="en-US" sz="12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2"/>
          <p:cNvSpPr txBox="1">
            <a:spLocks noGrp="1"/>
          </p:cNvSpPr>
          <p:nvPr>
            <p:ph type="title"/>
          </p:nvPr>
        </p:nvSpPr>
        <p:spPr>
          <a:xfrm>
            <a:off x="811975" y="165966"/>
            <a:ext cx="3993300" cy="98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 smtClean="0">
                <a:solidFill>
                  <a:schemeClr val="accent1">
                    <a:lumMod val="50000"/>
                  </a:schemeClr>
                </a:solidFill>
              </a:rPr>
              <a:t>Outline</a:t>
            </a:r>
            <a:endParaRPr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87" name="Google Shape;287;p32"/>
          <p:cNvSpPr txBox="1">
            <a:spLocks noGrp="1"/>
          </p:cNvSpPr>
          <p:nvPr>
            <p:ph type="subTitle" idx="1"/>
          </p:nvPr>
        </p:nvSpPr>
        <p:spPr>
          <a:xfrm>
            <a:off x="811975" y="1155666"/>
            <a:ext cx="39933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50000"/>
              </a:lnSpc>
              <a:buSzPts val="1100"/>
              <a:buNone/>
            </a:pPr>
            <a:r>
              <a:rPr lang="en-US" sz="1400" b="1" dirty="0">
                <a:latin typeface="Space Grotesk" panose="020B0600000101010101" charset="0"/>
                <a:cs typeface="Space Grotesk" panose="020B0600000101010101" charset="0"/>
              </a:rPr>
              <a:t>Presentation </a:t>
            </a:r>
            <a:r>
              <a:rPr lang="en-US" sz="1400" b="1" dirty="0" smtClean="0">
                <a:latin typeface="Space Grotesk" panose="020B0600000101010101" charset="0"/>
                <a:cs typeface="Space Grotesk" panose="020B0600000101010101" charset="0"/>
              </a:rPr>
              <a:t>Roadmap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latin typeface="Space Grotesk" panose="020B0600000101010101" charset="0"/>
                <a:cs typeface="Space Grotesk" panose="020B0600000101010101" charset="0"/>
              </a:rPr>
              <a:t>Why </a:t>
            </a:r>
            <a:r>
              <a:rPr lang="en-US" sz="1400" dirty="0">
                <a:latin typeface="Space Grotesk" panose="020B0600000101010101" charset="0"/>
                <a:cs typeface="Space Grotesk" panose="020B0600000101010101" charset="0"/>
              </a:rPr>
              <a:t>SMS spam detection needs more than keywords (Introduction)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latin typeface="Space Grotesk" panose="020B0600000101010101" charset="0"/>
                <a:cs typeface="Space Grotesk" panose="020B0600000101010101" charset="0"/>
              </a:rPr>
              <a:t>Dataset</a:t>
            </a:r>
            <a:r>
              <a:rPr lang="en-US" sz="1400" dirty="0">
                <a:latin typeface="Space Grotesk" panose="020B0600000101010101" charset="0"/>
                <a:cs typeface="Space Grotesk" panose="020B0600000101010101" charset="0"/>
              </a:rPr>
              <a:t>, exploratory analysis and preprocessing (Weeks 3–4)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latin typeface="Space Grotesk" panose="020B0600000101010101" charset="0"/>
                <a:cs typeface="Space Grotesk" panose="020B0600000101010101" charset="0"/>
              </a:rPr>
              <a:t>Three </a:t>
            </a:r>
            <a:r>
              <a:rPr lang="en-US" sz="1400" dirty="0">
                <a:latin typeface="Space Grotesk" panose="020B0600000101010101" charset="0"/>
                <a:cs typeface="Space Grotesk" panose="020B0600000101010101" charset="0"/>
              </a:rPr>
              <a:t>models: TF-IDF + </a:t>
            </a:r>
            <a:r>
              <a:rPr lang="en-US" sz="1400" dirty="0" err="1">
                <a:latin typeface="Space Grotesk" panose="020B0600000101010101" charset="0"/>
                <a:cs typeface="Space Grotesk" panose="020B0600000101010101" charset="0"/>
              </a:rPr>
              <a:t>LogReg</a:t>
            </a:r>
            <a:r>
              <a:rPr lang="en-US" sz="1400" dirty="0">
                <a:latin typeface="Space Grotesk" panose="020B0600000101010101" charset="0"/>
                <a:cs typeface="Space Grotesk" panose="020B0600000101010101" charset="0"/>
              </a:rPr>
              <a:t>, </a:t>
            </a:r>
            <a:r>
              <a:rPr lang="en-US" sz="1400" dirty="0" err="1">
                <a:latin typeface="Space Grotesk" panose="020B0600000101010101" charset="0"/>
                <a:cs typeface="Space Grotesk" panose="020B0600000101010101" charset="0"/>
              </a:rPr>
              <a:t>BiLSTM</a:t>
            </a:r>
            <a:r>
              <a:rPr lang="en-US" sz="1400" dirty="0">
                <a:latin typeface="Space Grotesk" panose="020B0600000101010101" charset="0"/>
                <a:cs typeface="Space Grotesk" panose="020B0600000101010101" charset="0"/>
              </a:rPr>
              <a:t>, </a:t>
            </a:r>
            <a:r>
              <a:rPr lang="en-US" sz="1400" dirty="0" err="1">
                <a:latin typeface="Space Grotesk" panose="020B0600000101010101" charset="0"/>
                <a:cs typeface="Space Grotesk" panose="020B0600000101010101" charset="0"/>
              </a:rPr>
              <a:t>DistilBERT</a:t>
            </a:r>
            <a:r>
              <a:rPr lang="en-US" sz="1400" dirty="0">
                <a:latin typeface="Space Grotesk" panose="020B0600000101010101" charset="0"/>
                <a:cs typeface="Space Grotesk" panose="020B0600000101010101" charset="0"/>
              </a:rPr>
              <a:t> (Weeks 5–9)</a:t>
            </a:r>
          </a:p>
          <a:p>
            <a:pPr>
              <a:lnSpc>
                <a:spcPct val="150000"/>
              </a:lnSpc>
            </a:pPr>
            <a:r>
              <a:rPr lang="en-US" sz="1400" dirty="0" smtClean="0">
                <a:latin typeface="Space Grotesk" panose="020B0600000101010101" charset="0"/>
                <a:cs typeface="Space Grotesk" panose="020B0600000101010101" charset="0"/>
              </a:rPr>
              <a:t>Results</a:t>
            </a:r>
            <a:r>
              <a:rPr lang="en-US" sz="1400" dirty="0">
                <a:latin typeface="Space Grotesk" panose="020B0600000101010101" charset="0"/>
                <a:cs typeface="Space Grotesk" panose="020B0600000101010101" charset="0"/>
              </a:rPr>
              <a:t>, semantic case studies and conclusion (Weeks 10–15)</a:t>
            </a:r>
          </a:p>
          <a:p>
            <a:pPr marL="0" lvl="0" indent="0">
              <a:lnSpc>
                <a:spcPct val="150000"/>
              </a:lnSpc>
              <a:buSzPts val="1100"/>
              <a:buNone/>
            </a:pPr>
            <a:endParaRPr sz="1400" dirty="0">
              <a:latin typeface="Space Grotesk" panose="020B0600000101010101" charset="0"/>
              <a:cs typeface="Space Grotesk" panose="020B0600000101010101" charset="0"/>
            </a:endParaRPr>
          </a:p>
        </p:txBody>
      </p:sp>
      <p:pic>
        <p:nvPicPr>
          <p:cNvPr id="4" name="Picture Placeholder 3"/>
          <p:cNvPicPr>
            <a:picLocks noGrp="1" noChangeAspect="1"/>
          </p:cNvPicPr>
          <p:nvPr>
            <p:ph type="pic" idx="2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5" t="860" r="33473" b="-860"/>
          <a:stretch/>
        </p:blipFill>
        <p:spPr/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0" y="0"/>
            <a:ext cx="340519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3"/>
          <p:cNvSpPr txBox="1">
            <a:spLocks noGrp="1"/>
          </p:cNvSpPr>
          <p:nvPr>
            <p:ph type="title"/>
          </p:nvPr>
        </p:nvSpPr>
        <p:spPr>
          <a:xfrm>
            <a:off x="4047175" y="2388500"/>
            <a:ext cx="4383600" cy="16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Introduction</a:t>
            </a:r>
            <a:endParaRPr dirty="0"/>
          </a:p>
        </p:txBody>
      </p:sp>
      <p:sp>
        <p:nvSpPr>
          <p:cNvPr id="294" name="Google Shape;294;p33"/>
          <p:cNvSpPr txBox="1">
            <a:spLocks noGrp="1"/>
          </p:cNvSpPr>
          <p:nvPr>
            <p:ph type="title" idx="2"/>
          </p:nvPr>
        </p:nvSpPr>
        <p:spPr>
          <a:xfrm>
            <a:off x="4047175" y="1438750"/>
            <a:ext cx="1230300" cy="88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295" name="Google Shape;295;p33"/>
          <p:cNvGrpSpPr/>
          <p:nvPr/>
        </p:nvGrpSpPr>
        <p:grpSpPr>
          <a:xfrm rot="756538">
            <a:off x="5159567" y="-1610422"/>
            <a:ext cx="4574157" cy="3479412"/>
            <a:chOff x="1522650" y="1117750"/>
            <a:chExt cx="4574075" cy="3479350"/>
          </a:xfrm>
        </p:grpSpPr>
        <p:sp>
          <p:nvSpPr>
            <p:cNvPr id="296" name="Google Shape;296;p33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3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4"/>
          <p:cNvSpPr txBox="1">
            <a:spLocks noGrp="1"/>
          </p:cNvSpPr>
          <p:nvPr>
            <p:ph type="subTitle" idx="4"/>
          </p:nvPr>
        </p:nvSpPr>
        <p:spPr>
          <a:xfrm>
            <a:off x="5341279" y="1294739"/>
            <a:ext cx="2424300" cy="44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Objectives</a:t>
            </a:r>
            <a:endParaRPr dirty="0"/>
          </a:p>
        </p:txBody>
      </p:sp>
      <p:sp>
        <p:nvSpPr>
          <p:cNvPr id="303" name="Google Shape;303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Introduction</a:t>
            </a:r>
            <a:endParaRPr dirty="0"/>
          </a:p>
        </p:txBody>
      </p:sp>
      <p:sp>
        <p:nvSpPr>
          <p:cNvPr id="304" name="Google Shape;304;p34"/>
          <p:cNvSpPr txBox="1">
            <a:spLocks noGrp="1"/>
          </p:cNvSpPr>
          <p:nvPr>
            <p:ph type="subTitle" idx="1"/>
          </p:nvPr>
        </p:nvSpPr>
        <p:spPr>
          <a:xfrm>
            <a:off x="5341279" y="1684182"/>
            <a:ext cx="2424300" cy="152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>
              <a:buFont typeface="+mj-lt"/>
              <a:buAutoNum type="arabicPeriod"/>
            </a:pPr>
            <a:r>
              <a:rPr lang="en-US" dirty="0"/>
              <a:t>Analyze data beyond keyword </a:t>
            </a:r>
            <a:r>
              <a:rPr lang="en-US" dirty="0" smtClean="0"/>
              <a:t>frequency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dirty="0" smtClean="0"/>
              <a:t>Build </a:t>
            </a:r>
            <a:r>
              <a:rPr lang="en-US" dirty="0"/>
              <a:t>two baselines: TF-IDF + </a:t>
            </a:r>
            <a:r>
              <a:rPr lang="en-US" dirty="0" err="1"/>
              <a:t>LogReg</a:t>
            </a:r>
            <a:r>
              <a:rPr lang="en-US" dirty="0"/>
              <a:t> and Embedding + </a:t>
            </a:r>
            <a:r>
              <a:rPr lang="en-US" dirty="0" err="1" smtClean="0"/>
              <a:t>BiLSTM</a:t>
            </a:r>
            <a:endParaRPr lang="en-US" dirty="0" smtClean="0"/>
          </a:p>
          <a:p>
            <a:pPr marL="228600" lvl="0" indent="-228600">
              <a:buFont typeface="+mj-lt"/>
              <a:buAutoNum type="arabicPeriod"/>
            </a:pPr>
            <a:r>
              <a:rPr lang="en-US" dirty="0" smtClean="0"/>
              <a:t>Fine-tune </a:t>
            </a:r>
            <a:r>
              <a:rPr lang="en-US" dirty="0" err="1"/>
              <a:t>DistilBERT</a:t>
            </a:r>
            <a:r>
              <a:rPr lang="en-US" dirty="0"/>
              <a:t> (transfer learning</a:t>
            </a:r>
            <a:r>
              <a:rPr lang="en-US" dirty="0" smtClean="0"/>
              <a:t>)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dirty="0" smtClean="0"/>
              <a:t>Evaluate</a:t>
            </a:r>
            <a:r>
              <a:rPr lang="en-US" dirty="0"/>
              <a:t>: accuracy, precision, recall, F1, ROC-AUC, confusion </a:t>
            </a:r>
            <a:r>
              <a:rPr lang="en-US" dirty="0" smtClean="0"/>
              <a:t>matrices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dirty="0" smtClean="0"/>
              <a:t>Explain </a:t>
            </a:r>
            <a:r>
              <a:rPr lang="en-US" dirty="0"/>
              <a:t>why the Transformer wins</a:t>
            </a:r>
            <a:endParaRPr dirty="0"/>
          </a:p>
        </p:txBody>
      </p:sp>
      <p:sp>
        <p:nvSpPr>
          <p:cNvPr id="2" name="Rounded Rectangle 1"/>
          <p:cNvSpPr/>
          <p:nvPr/>
        </p:nvSpPr>
        <p:spPr>
          <a:xfrm>
            <a:off x="4091940" y="3991707"/>
            <a:ext cx="4612445" cy="1037493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  <a:alpha val="40000"/>
                </a:schemeClr>
              </a:gs>
              <a:gs pos="50000">
                <a:schemeClr val="accent1">
                  <a:tint val="44500"/>
                  <a:satMod val="160000"/>
                  <a:alpha val="40000"/>
                </a:schemeClr>
              </a:gs>
              <a:gs pos="100000">
                <a:schemeClr val="accent1">
                  <a:tint val="23500"/>
                  <a:satMod val="160000"/>
                  <a:alpha val="4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5" name="Google Shape;305;p34"/>
          <p:cNvSpPr txBox="1">
            <a:spLocks noGrp="1"/>
          </p:cNvSpPr>
          <p:nvPr>
            <p:ph type="subTitle" idx="2"/>
          </p:nvPr>
        </p:nvSpPr>
        <p:spPr>
          <a:xfrm>
            <a:off x="1049193" y="1684182"/>
            <a:ext cx="2828215" cy="152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Billions of SMS messages are sent every day, so spam and </a:t>
            </a:r>
            <a:r>
              <a:rPr lang="en-US" dirty="0" err="1"/>
              <a:t>smishing</a:t>
            </a:r>
            <a:r>
              <a:rPr lang="en-US" dirty="0"/>
              <a:t> (SMS phishing) </a:t>
            </a:r>
            <a:r>
              <a:rPr lang="en-US" dirty="0" smtClean="0"/>
              <a:t>thrive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Harms</a:t>
            </a:r>
            <a:r>
              <a:rPr lang="en-US" dirty="0"/>
              <a:t>: financial loss, credential theft, malicious links, lost </a:t>
            </a:r>
            <a:r>
              <a:rPr lang="en-US" dirty="0" smtClean="0"/>
              <a:t>trust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Vulnerable </a:t>
            </a:r>
            <a:r>
              <a:rPr lang="en-US" dirty="0"/>
              <a:t>users, such as the elderly, are hit </a:t>
            </a:r>
            <a:r>
              <a:rPr lang="en-US" dirty="0" smtClean="0"/>
              <a:t>hardest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Keyword </a:t>
            </a:r>
            <a:r>
              <a:rPr lang="en-US" dirty="0"/>
              <a:t>filters are bypassed (“FREE” → “FR33</a:t>
            </a:r>
            <a:r>
              <a:rPr lang="en-US" dirty="0" smtClean="0"/>
              <a:t>”)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TF-IDF </a:t>
            </a:r>
            <a:r>
              <a:rPr lang="en-US" dirty="0"/>
              <a:t>sees a bag of words: no semantics, no word order</a:t>
            </a:r>
            <a:endParaRPr dirty="0"/>
          </a:p>
        </p:txBody>
      </p:sp>
      <p:sp>
        <p:nvSpPr>
          <p:cNvPr id="306" name="Google Shape;306;p34"/>
          <p:cNvSpPr txBox="1">
            <a:spLocks noGrp="1"/>
          </p:cNvSpPr>
          <p:nvPr>
            <p:ph type="subTitle" idx="3"/>
          </p:nvPr>
        </p:nvSpPr>
        <p:spPr>
          <a:xfrm>
            <a:off x="1000257" y="1294739"/>
            <a:ext cx="3668458" cy="44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SMS Spam Is a Security Threat</a:t>
            </a:r>
            <a:endParaRPr dirty="0"/>
          </a:p>
        </p:txBody>
      </p:sp>
      <p:sp>
        <p:nvSpPr>
          <p:cNvPr id="307" name="Google Shape;307;p34"/>
          <p:cNvSpPr/>
          <p:nvPr/>
        </p:nvSpPr>
        <p:spPr>
          <a:xfrm>
            <a:off x="5030381" y="1318420"/>
            <a:ext cx="310898" cy="365762"/>
          </a:xfrm>
          <a:custGeom>
            <a:avLst/>
            <a:gdLst/>
            <a:ahLst/>
            <a:cxnLst/>
            <a:rect l="l" t="t" r="r" b="b"/>
            <a:pathLst>
              <a:path w="10555" h="12004" extrusionOk="0">
                <a:moveTo>
                  <a:pt x="5262" y="709"/>
                </a:moveTo>
                <a:lnTo>
                  <a:pt x="9420" y="2788"/>
                </a:lnTo>
                <a:lnTo>
                  <a:pt x="8066" y="3450"/>
                </a:lnTo>
                <a:lnTo>
                  <a:pt x="5451" y="2127"/>
                </a:lnTo>
                <a:cubicBezTo>
                  <a:pt x="5403" y="2111"/>
                  <a:pt x="5348" y="2103"/>
                  <a:pt x="5293" y="2103"/>
                </a:cubicBezTo>
                <a:cubicBezTo>
                  <a:pt x="5238" y="2103"/>
                  <a:pt x="5183" y="2111"/>
                  <a:pt x="5136" y="2127"/>
                </a:cubicBezTo>
                <a:lnTo>
                  <a:pt x="2489" y="3450"/>
                </a:lnTo>
                <a:lnTo>
                  <a:pt x="1197" y="2788"/>
                </a:lnTo>
                <a:lnTo>
                  <a:pt x="5262" y="709"/>
                </a:lnTo>
                <a:close/>
                <a:moveTo>
                  <a:pt x="4915" y="3040"/>
                </a:moveTo>
                <a:lnTo>
                  <a:pt x="4915" y="6222"/>
                </a:lnTo>
                <a:lnTo>
                  <a:pt x="2804" y="7294"/>
                </a:lnTo>
                <a:lnTo>
                  <a:pt x="2804" y="4080"/>
                </a:lnTo>
                <a:lnTo>
                  <a:pt x="4915" y="3040"/>
                </a:lnTo>
                <a:close/>
                <a:moveTo>
                  <a:pt x="5640" y="3040"/>
                </a:moveTo>
                <a:lnTo>
                  <a:pt x="7750" y="4080"/>
                </a:lnTo>
                <a:lnTo>
                  <a:pt x="7750" y="7294"/>
                </a:lnTo>
                <a:lnTo>
                  <a:pt x="5640" y="6222"/>
                </a:lnTo>
                <a:lnTo>
                  <a:pt x="5640" y="3040"/>
                </a:lnTo>
                <a:close/>
                <a:moveTo>
                  <a:pt x="5262" y="6758"/>
                </a:moveTo>
                <a:lnTo>
                  <a:pt x="7278" y="7798"/>
                </a:lnTo>
                <a:lnTo>
                  <a:pt x="5262" y="8806"/>
                </a:lnTo>
                <a:lnTo>
                  <a:pt x="3277" y="7798"/>
                </a:lnTo>
                <a:lnTo>
                  <a:pt x="5262" y="6758"/>
                </a:lnTo>
                <a:close/>
                <a:moveTo>
                  <a:pt x="725" y="3372"/>
                </a:moveTo>
                <a:lnTo>
                  <a:pt x="2111" y="4080"/>
                </a:lnTo>
                <a:lnTo>
                  <a:pt x="2111" y="7829"/>
                </a:lnTo>
                <a:cubicBezTo>
                  <a:pt x="2111" y="7955"/>
                  <a:pt x="2206" y="8081"/>
                  <a:pt x="2332" y="8113"/>
                </a:cubicBezTo>
                <a:lnTo>
                  <a:pt x="4915" y="9404"/>
                </a:lnTo>
                <a:lnTo>
                  <a:pt x="4915" y="10980"/>
                </a:lnTo>
                <a:lnTo>
                  <a:pt x="725" y="8869"/>
                </a:lnTo>
                <a:lnTo>
                  <a:pt x="725" y="3372"/>
                </a:lnTo>
                <a:close/>
                <a:moveTo>
                  <a:pt x="9861" y="3387"/>
                </a:moveTo>
                <a:lnTo>
                  <a:pt x="9861" y="8932"/>
                </a:lnTo>
                <a:lnTo>
                  <a:pt x="5640" y="11011"/>
                </a:lnTo>
                <a:lnTo>
                  <a:pt x="5640" y="9436"/>
                </a:lnTo>
                <a:lnTo>
                  <a:pt x="8223" y="8144"/>
                </a:lnTo>
                <a:cubicBezTo>
                  <a:pt x="8349" y="8113"/>
                  <a:pt x="8412" y="7987"/>
                  <a:pt x="8412" y="7829"/>
                </a:cubicBezTo>
                <a:lnTo>
                  <a:pt x="8412" y="4080"/>
                </a:lnTo>
                <a:lnTo>
                  <a:pt x="9861" y="3387"/>
                </a:lnTo>
                <a:close/>
                <a:moveTo>
                  <a:pt x="5262" y="0"/>
                </a:moveTo>
                <a:cubicBezTo>
                  <a:pt x="5206" y="0"/>
                  <a:pt x="5151" y="16"/>
                  <a:pt x="5104" y="47"/>
                </a:cubicBezTo>
                <a:lnTo>
                  <a:pt x="284" y="2473"/>
                </a:lnTo>
                <a:cubicBezTo>
                  <a:pt x="63" y="2536"/>
                  <a:pt x="0" y="2662"/>
                  <a:pt x="0" y="2820"/>
                </a:cubicBezTo>
                <a:lnTo>
                  <a:pt x="0" y="9152"/>
                </a:lnTo>
                <a:cubicBezTo>
                  <a:pt x="0" y="9278"/>
                  <a:pt x="63" y="9404"/>
                  <a:pt x="189" y="9499"/>
                </a:cubicBezTo>
                <a:lnTo>
                  <a:pt x="5104" y="11956"/>
                </a:lnTo>
                <a:cubicBezTo>
                  <a:pt x="5151" y="11988"/>
                  <a:pt x="5206" y="12003"/>
                  <a:pt x="5262" y="12003"/>
                </a:cubicBezTo>
                <a:cubicBezTo>
                  <a:pt x="5317" y="12003"/>
                  <a:pt x="5372" y="11988"/>
                  <a:pt x="5419" y="11956"/>
                </a:cubicBezTo>
                <a:lnTo>
                  <a:pt x="10365" y="9499"/>
                </a:lnTo>
                <a:cubicBezTo>
                  <a:pt x="10460" y="9404"/>
                  <a:pt x="10554" y="9278"/>
                  <a:pt x="10554" y="9152"/>
                </a:cubicBezTo>
                <a:lnTo>
                  <a:pt x="10554" y="2788"/>
                </a:lnTo>
                <a:cubicBezTo>
                  <a:pt x="10554" y="2662"/>
                  <a:pt x="10460" y="2568"/>
                  <a:pt x="10365" y="2505"/>
                </a:cubicBezTo>
                <a:lnTo>
                  <a:pt x="5419" y="47"/>
                </a:lnTo>
                <a:cubicBezTo>
                  <a:pt x="5372" y="16"/>
                  <a:pt x="5317" y="0"/>
                  <a:pt x="526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8" name="Google Shape;308;p34"/>
          <p:cNvGrpSpPr/>
          <p:nvPr/>
        </p:nvGrpSpPr>
        <p:grpSpPr>
          <a:xfrm>
            <a:off x="720000" y="1354997"/>
            <a:ext cx="329193" cy="329185"/>
            <a:chOff x="-3852025" y="2764950"/>
            <a:chExt cx="291450" cy="293000"/>
          </a:xfrm>
        </p:grpSpPr>
        <p:sp>
          <p:nvSpPr>
            <p:cNvPr id="309" name="Google Shape;309;p34"/>
            <p:cNvSpPr/>
            <p:nvPr/>
          </p:nvSpPr>
          <p:spPr>
            <a:xfrm>
              <a:off x="-3852025" y="2764950"/>
              <a:ext cx="291450" cy="293000"/>
            </a:xfrm>
            <a:custGeom>
              <a:avLst/>
              <a:gdLst/>
              <a:ahLst/>
              <a:cxnLst/>
              <a:rect l="l" t="t" r="r" b="b"/>
              <a:pathLst>
                <a:path w="11658" h="11720" extrusionOk="0">
                  <a:moveTo>
                    <a:pt x="4380" y="693"/>
                  </a:moveTo>
                  <a:cubicBezTo>
                    <a:pt x="6774" y="693"/>
                    <a:pt x="8161" y="1355"/>
                    <a:pt x="8161" y="1733"/>
                  </a:cubicBezTo>
                  <a:cubicBezTo>
                    <a:pt x="8161" y="2080"/>
                    <a:pt x="6774" y="2741"/>
                    <a:pt x="4380" y="2741"/>
                  </a:cubicBezTo>
                  <a:cubicBezTo>
                    <a:pt x="1986" y="2741"/>
                    <a:pt x="599" y="2080"/>
                    <a:pt x="599" y="1733"/>
                  </a:cubicBezTo>
                  <a:cubicBezTo>
                    <a:pt x="631" y="1355"/>
                    <a:pt x="2017" y="693"/>
                    <a:pt x="4380" y="693"/>
                  </a:cubicBezTo>
                  <a:close/>
                  <a:moveTo>
                    <a:pt x="8224" y="2710"/>
                  </a:moveTo>
                  <a:lnTo>
                    <a:pt x="8224" y="4190"/>
                  </a:lnTo>
                  <a:lnTo>
                    <a:pt x="7845" y="4190"/>
                  </a:lnTo>
                  <a:cubicBezTo>
                    <a:pt x="7815" y="4189"/>
                    <a:pt x="7784" y="4189"/>
                    <a:pt x="7753" y="4189"/>
                  </a:cubicBezTo>
                  <a:cubicBezTo>
                    <a:pt x="6625" y="4189"/>
                    <a:pt x="5622" y="4748"/>
                    <a:pt x="4947" y="5545"/>
                  </a:cubicBezTo>
                  <a:cubicBezTo>
                    <a:pt x="4743" y="5555"/>
                    <a:pt x="4544" y="5560"/>
                    <a:pt x="4352" y="5560"/>
                  </a:cubicBezTo>
                  <a:cubicBezTo>
                    <a:pt x="2081" y="5560"/>
                    <a:pt x="662" y="4912"/>
                    <a:pt x="662" y="4505"/>
                  </a:cubicBezTo>
                  <a:lnTo>
                    <a:pt x="662" y="2710"/>
                  </a:lnTo>
                  <a:cubicBezTo>
                    <a:pt x="1639" y="3308"/>
                    <a:pt x="3246" y="3466"/>
                    <a:pt x="4443" y="3466"/>
                  </a:cubicBezTo>
                  <a:cubicBezTo>
                    <a:pt x="5577" y="3466"/>
                    <a:pt x="7215" y="3308"/>
                    <a:pt x="8224" y="2710"/>
                  </a:cubicBezTo>
                  <a:close/>
                  <a:moveTo>
                    <a:pt x="631" y="5514"/>
                  </a:moveTo>
                  <a:cubicBezTo>
                    <a:pt x="1639" y="6081"/>
                    <a:pt x="3309" y="6238"/>
                    <a:pt x="4474" y="6238"/>
                  </a:cubicBezTo>
                  <a:cubicBezTo>
                    <a:pt x="4222" y="6711"/>
                    <a:pt x="4065" y="7309"/>
                    <a:pt x="4065" y="7939"/>
                  </a:cubicBezTo>
                  <a:lnTo>
                    <a:pt x="4065" y="8286"/>
                  </a:lnTo>
                  <a:cubicBezTo>
                    <a:pt x="1860" y="8223"/>
                    <a:pt x="631" y="7624"/>
                    <a:pt x="631" y="7278"/>
                  </a:cubicBezTo>
                  <a:lnTo>
                    <a:pt x="631" y="5514"/>
                  </a:lnTo>
                  <a:close/>
                  <a:moveTo>
                    <a:pt x="631" y="8223"/>
                  </a:moveTo>
                  <a:cubicBezTo>
                    <a:pt x="1576" y="8759"/>
                    <a:pt x="3120" y="8979"/>
                    <a:pt x="4222" y="8979"/>
                  </a:cubicBezTo>
                  <a:cubicBezTo>
                    <a:pt x="4474" y="9798"/>
                    <a:pt x="4947" y="10460"/>
                    <a:pt x="5609" y="10964"/>
                  </a:cubicBezTo>
                  <a:cubicBezTo>
                    <a:pt x="5199" y="11005"/>
                    <a:pt x="4802" y="11024"/>
                    <a:pt x="4424" y="11024"/>
                  </a:cubicBezTo>
                  <a:cubicBezTo>
                    <a:pt x="2216" y="11024"/>
                    <a:pt x="631" y="10391"/>
                    <a:pt x="631" y="9987"/>
                  </a:cubicBezTo>
                  <a:lnTo>
                    <a:pt x="631" y="8223"/>
                  </a:lnTo>
                  <a:close/>
                  <a:moveTo>
                    <a:pt x="7814" y="4852"/>
                  </a:moveTo>
                  <a:cubicBezTo>
                    <a:pt x="9515" y="4852"/>
                    <a:pt x="10933" y="6238"/>
                    <a:pt x="10933" y="7939"/>
                  </a:cubicBezTo>
                  <a:cubicBezTo>
                    <a:pt x="10964" y="9641"/>
                    <a:pt x="9547" y="11027"/>
                    <a:pt x="7814" y="11027"/>
                  </a:cubicBezTo>
                  <a:cubicBezTo>
                    <a:pt x="6113" y="11027"/>
                    <a:pt x="4726" y="9641"/>
                    <a:pt x="4726" y="7939"/>
                  </a:cubicBezTo>
                  <a:cubicBezTo>
                    <a:pt x="4726" y="6238"/>
                    <a:pt x="6113" y="4852"/>
                    <a:pt x="7814" y="4852"/>
                  </a:cubicBezTo>
                  <a:close/>
                  <a:moveTo>
                    <a:pt x="4411" y="0"/>
                  </a:moveTo>
                  <a:cubicBezTo>
                    <a:pt x="3277" y="0"/>
                    <a:pt x="2206" y="158"/>
                    <a:pt x="1418" y="410"/>
                  </a:cubicBezTo>
                  <a:cubicBezTo>
                    <a:pt x="253" y="819"/>
                    <a:pt x="1" y="1323"/>
                    <a:pt x="1" y="1733"/>
                  </a:cubicBezTo>
                  <a:lnTo>
                    <a:pt x="1" y="9987"/>
                  </a:lnTo>
                  <a:cubicBezTo>
                    <a:pt x="1" y="10334"/>
                    <a:pt x="253" y="10901"/>
                    <a:pt x="1418" y="11279"/>
                  </a:cubicBezTo>
                  <a:cubicBezTo>
                    <a:pt x="2269" y="11562"/>
                    <a:pt x="3309" y="11720"/>
                    <a:pt x="4411" y="11720"/>
                  </a:cubicBezTo>
                  <a:cubicBezTo>
                    <a:pt x="5199" y="11720"/>
                    <a:pt x="5955" y="11657"/>
                    <a:pt x="6617" y="11531"/>
                  </a:cubicBezTo>
                  <a:cubicBezTo>
                    <a:pt x="7026" y="11657"/>
                    <a:pt x="7404" y="11720"/>
                    <a:pt x="7845" y="11720"/>
                  </a:cubicBezTo>
                  <a:cubicBezTo>
                    <a:pt x="9925" y="11720"/>
                    <a:pt x="11658" y="10019"/>
                    <a:pt x="11658" y="7939"/>
                  </a:cubicBezTo>
                  <a:cubicBezTo>
                    <a:pt x="11626" y="6175"/>
                    <a:pt x="10397" y="4757"/>
                    <a:pt x="8822" y="4316"/>
                  </a:cubicBezTo>
                  <a:lnTo>
                    <a:pt x="8822" y="1733"/>
                  </a:lnTo>
                  <a:cubicBezTo>
                    <a:pt x="8822" y="1355"/>
                    <a:pt x="8602" y="819"/>
                    <a:pt x="7404" y="410"/>
                  </a:cubicBezTo>
                  <a:cubicBezTo>
                    <a:pt x="6585" y="158"/>
                    <a:pt x="5514" y="0"/>
                    <a:pt x="44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34"/>
            <p:cNvSpPr/>
            <p:nvPr/>
          </p:nvSpPr>
          <p:spPr>
            <a:xfrm>
              <a:off x="-3707100" y="2937425"/>
              <a:ext cx="103200" cy="67775"/>
            </a:xfrm>
            <a:custGeom>
              <a:avLst/>
              <a:gdLst/>
              <a:ahLst/>
              <a:cxnLst/>
              <a:rect l="l" t="t" r="r" b="b"/>
              <a:pathLst>
                <a:path w="4128" h="2711" extrusionOk="0">
                  <a:moveTo>
                    <a:pt x="3785" y="1"/>
                  </a:moveTo>
                  <a:cubicBezTo>
                    <a:pt x="3695" y="1"/>
                    <a:pt x="3608" y="32"/>
                    <a:pt x="3561" y="95"/>
                  </a:cubicBezTo>
                  <a:lnTo>
                    <a:pt x="1733" y="1923"/>
                  </a:lnTo>
                  <a:lnTo>
                    <a:pt x="599" y="757"/>
                  </a:lnTo>
                  <a:cubicBezTo>
                    <a:pt x="536" y="710"/>
                    <a:pt x="450" y="686"/>
                    <a:pt x="363" y="686"/>
                  </a:cubicBezTo>
                  <a:cubicBezTo>
                    <a:pt x="276" y="686"/>
                    <a:pt x="190" y="710"/>
                    <a:pt x="127" y="757"/>
                  </a:cubicBezTo>
                  <a:cubicBezTo>
                    <a:pt x="1" y="883"/>
                    <a:pt x="1" y="1135"/>
                    <a:pt x="127" y="1229"/>
                  </a:cubicBezTo>
                  <a:lnTo>
                    <a:pt x="1513" y="2616"/>
                  </a:lnTo>
                  <a:cubicBezTo>
                    <a:pt x="1560" y="2679"/>
                    <a:pt x="1647" y="2710"/>
                    <a:pt x="1737" y="2710"/>
                  </a:cubicBezTo>
                  <a:cubicBezTo>
                    <a:pt x="1828" y="2710"/>
                    <a:pt x="1922" y="2679"/>
                    <a:pt x="1985" y="2616"/>
                  </a:cubicBezTo>
                  <a:lnTo>
                    <a:pt x="4033" y="568"/>
                  </a:lnTo>
                  <a:cubicBezTo>
                    <a:pt x="4128" y="442"/>
                    <a:pt x="4128" y="221"/>
                    <a:pt x="4033" y="95"/>
                  </a:cubicBezTo>
                  <a:cubicBezTo>
                    <a:pt x="3970" y="32"/>
                    <a:pt x="3876" y="1"/>
                    <a:pt x="378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" name="Google Shape;302;p34"/>
          <p:cNvSpPr txBox="1">
            <a:spLocks/>
          </p:cNvSpPr>
          <p:nvPr/>
        </p:nvSpPr>
        <p:spPr>
          <a:xfrm>
            <a:off x="4214675" y="3964238"/>
            <a:ext cx="2424300" cy="4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0" i="0" u="none" strike="noStrike" cap="none" spc="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en-US" sz="1400" dirty="0">
                <a:solidFill>
                  <a:srgbClr val="002060"/>
                </a:solidFill>
              </a:rPr>
              <a:t>Hypotheses box</a:t>
            </a:r>
          </a:p>
        </p:txBody>
      </p:sp>
      <p:sp>
        <p:nvSpPr>
          <p:cNvPr id="12" name="Google Shape;302;p34"/>
          <p:cNvSpPr txBox="1">
            <a:spLocks/>
          </p:cNvSpPr>
          <p:nvPr/>
        </p:nvSpPr>
        <p:spPr>
          <a:xfrm>
            <a:off x="4214675" y="4551563"/>
            <a:ext cx="4677508" cy="4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0" i="0" u="none" strike="noStrike" cap="none" spc="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 spc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en-US" sz="1050" dirty="0"/>
              <a:t>H0: TF-IDF + </a:t>
            </a:r>
            <a:r>
              <a:rPr lang="en-US" sz="1050" dirty="0" err="1"/>
              <a:t>LogReg</a:t>
            </a:r>
            <a:r>
              <a:rPr lang="en-US" sz="1050" dirty="0"/>
              <a:t> performs equivalently to Transformer-based semantic evaluationH1: The Transformer achieves clearly higher F1 and recall, especially on obfuscated, context-dependent spam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105901" flipH="1">
            <a:off x="-768777" y="-3733866"/>
            <a:ext cx="4365448" cy="6809685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3"/>
          <p:cNvSpPr txBox="1">
            <a:spLocks noGrp="1"/>
          </p:cNvSpPr>
          <p:nvPr>
            <p:ph type="title"/>
          </p:nvPr>
        </p:nvSpPr>
        <p:spPr>
          <a:xfrm>
            <a:off x="4047175" y="2388500"/>
            <a:ext cx="4383600" cy="16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Data at a </a:t>
            </a:r>
            <a:r>
              <a:rPr lang="en-US" dirty="0">
                <a:solidFill>
                  <a:srgbClr val="00B0F0"/>
                </a:solidFill>
              </a:rPr>
              <a:t>Glance</a:t>
            </a:r>
            <a:endParaRPr dirty="0">
              <a:solidFill>
                <a:srgbClr val="00B0F0"/>
              </a:solidFill>
            </a:endParaRPr>
          </a:p>
        </p:txBody>
      </p:sp>
      <p:sp>
        <p:nvSpPr>
          <p:cNvPr id="294" name="Google Shape;294;p33"/>
          <p:cNvSpPr txBox="1">
            <a:spLocks noGrp="1"/>
          </p:cNvSpPr>
          <p:nvPr>
            <p:ph type="title" idx="2"/>
          </p:nvPr>
        </p:nvSpPr>
        <p:spPr>
          <a:xfrm>
            <a:off x="4047175" y="1438750"/>
            <a:ext cx="1230300" cy="88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02</a:t>
            </a:r>
            <a:endParaRPr dirty="0"/>
          </a:p>
        </p:txBody>
      </p:sp>
      <p:grpSp>
        <p:nvGrpSpPr>
          <p:cNvPr id="295" name="Google Shape;295;p33"/>
          <p:cNvGrpSpPr/>
          <p:nvPr/>
        </p:nvGrpSpPr>
        <p:grpSpPr>
          <a:xfrm rot="756538">
            <a:off x="5159567" y="-1610422"/>
            <a:ext cx="4574157" cy="3479412"/>
            <a:chOff x="1522650" y="1117750"/>
            <a:chExt cx="4574075" cy="3479350"/>
          </a:xfrm>
        </p:grpSpPr>
        <p:sp>
          <p:nvSpPr>
            <p:cNvPr id="296" name="Google Shape;296;p33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3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8" name="Google Shape;29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8503364" flipH="1">
            <a:off x="-2755719" y="1894295"/>
            <a:ext cx="4365448" cy="68096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9198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5"/>
          <p:cNvSpPr txBox="1">
            <a:spLocks noGrp="1"/>
          </p:cNvSpPr>
          <p:nvPr>
            <p:ph type="title"/>
          </p:nvPr>
        </p:nvSpPr>
        <p:spPr>
          <a:xfrm>
            <a:off x="615012" y="50617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Data at a </a:t>
            </a:r>
            <a:r>
              <a:rPr lang="en-US" dirty="0">
                <a:solidFill>
                  <a:srgbClr val="00B0F0"/>
                </a:solidFill>
              </a:rPr>
              <a:t>Glance</a:t>
            </a:r>
            <a:endParaRPr dirty="0">
              <a:solidFill>
                <a:srgbClr val="00B0F0"/>
              </a:solidFill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720000" y="1199189"/>
            <a:ext cx="2179611" cy="1491772"/>
          </a:xfrm>
          <a:prstGeom prst="roundRect">
            <a:avLst>
              <a:gd name="adj" fmla="val 8391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6" name="Google Shape;316;p35"/>
          <p:cNvSpPr txBox="1">
            <a:spLocks noGrp="1"/>
          </p:cNvSpPr>
          <p:nvPr>
            <p:ph type="subTitle" idx="4"/>
          </p:nvPr>
        </p:nvSpPr>
        <p:spPr>
          <a:xfrm>
            <a:off x="615012" y="1199188"/>
            <a:ext cx="2709000" cy="139262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2">
                    <a:lumMod val="10000"/>
                  </a:schemeClr>
                </a:solidFill>
              </a:rPr>
              <a:t>5,572</a:t>
            </a:r>
            <a:r>
              <a:rPr lang="en-US" sz="1400" dirty="0">
                <a:solidFill>
                  <a:schemeClr val="bg2">
                    <a:lumMod val="10000"/>
                  </a:schemeClr>
                </a:solidFill>
              </a:rPr>
              <a:t> English SMS messages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2">
                    <a:lumMod val="10000"/>
                  </a:schemeClr>
                </a:solidFill>
              </a:rPr>
              <a:t>4,825</a:t>
            </a:r>
            <a:r>
              <a:rPr lang="en-US" sz="1400" dirty="0">
                <a:solidFill>
                  <a:schemeClr val="bg2">
                    <a:lumMod val="10000"/>
                  </a:schemeClr>
                </a:solidFill>
              </a:rPr>
              <a:t> ham (86.6%)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2">
                    <a:lumMod val="10000"/>
                  </a:schemeClr>
                </a:solidFill>
              </a:rPr>
              <a:t>747</a:t>
            </a:r>
            <a:r>
              <a:rPr lang="en-US" sz="1400" dirty="0">
                <a:solidFill>
                  <a:schemeClr val="bg2">
                    <a:lumMod val="10000"/>
                  </a:schemeClr>
                </a:solidFill>
              </a:rPr>
              <a:t> spam (13.4%)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2">
                    <a:lumMod val="10000"/>
                  </a:schemeClr>
                </a:solidFill>
              </a:rPr>
              <a:t>0</a:t>
            </a:r>
            <a:r>
              <a:rPr lang="en-US" sz="1400" dirty="0">
                <a:solidFill>
                  <a:schemeClr val="bg2">
                    <a:lumMod val="10000"/>
                  </a:schemeClr>
                </a:solidFill>
              </a:rPr>
              <a:t> missing values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078081"/>
              </p:ext>
            </p:extLst>
          </p:nvPr>
        </p:nvGraphicFramePr>
        <p:xfrm>
          <a:off x="3429000" y="1578255"/>
          <a:ext cx="5314413" cy="91440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771471">
                  <a:extLst>
                    <a:ext uri="{9D8B030D-6E8A-4147-A177-3AD203B41FA5}">
                      <a16:colId xmlns:a16="http://schemas.microsoft.com/office/drawing/2014/main" val="2563873080"/>
                    </a:ext>
                  </a:extLst>
                </a:gridCol>
                <a:gridCol w="1771471">
                  <a:extLst>
                    <a:ext uri="{9D8B030D-6E8A-4147-A177-3AD203B41FA5}">
                      <a16:colId xmlns:a16="http://schemas.microsoft.com/office/drawing/2014/main" val="3438557697"/>
                    </a:ext>
                  </a:extLst>
                </a:gridCol>
                <a:gridCol w="1771471">
                  <a:extLst>
                    <a:ext uri="{9D8B030D-6E8A-4147-A177-3AD203B41FA5}">
                      <a16:colId xmlns:a16="http://schemas.microsoft.com/office/drawing/2014/main" val="1266680581"/>
                    </a:ext>
                  </a:extLst>
                </a:gridCol>
              </a:tblGrid>
              <a:tr h="301736">
                <a:tc>
                  <a:txBody>
                    <a:bodyPr/>
                    <a:lstStyle/>
                    <a:p>
                      <a:r>
                        <a:rPr lang="en-US" dirty="0"/>
                        <a:t>Field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Values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9732947"/>
                  </a:ext>
                </a:extLst>
              </a:tr>
              <a:tr h="301736">
                <a:tc>
                  <a:txBody>
                    <a:bodyPr/>
                    <a:lstStyle/>
                    <a:p>
                      <a:r>
                        <a:rPr lang="en-US"/>
                        <a:t>label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Categorical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ham / spam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7916296"/>
                  </a:ext>
                </a:extLst>
              </a:tr>
              <a:tr h="301736">
                <a:tc>
                  <a:txBody>
                    <a:bodyPr/>
                    <a:lstStyle/>
                    <a:p>
                      <a:r>
                        <a:rPr lang="en-US"/>
                        <a:t>message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2–910 characters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3472820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3324012" y="1199188"/>
            <a:ext cx="141737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Space Grotesk" panose="020B0600000101010101" charset="0"/>
                <a:cs typeface="Space Grotesk" panose="020B0600000101010101" charset="0"/>
              </a:rPr>
              <a:t>Schema table: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24012" y="2690960"/>
            <a:ext cx="269496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Split table (</a:t>
            </a:r>
            <a:r>
              <a:rPr lang="en-US" dirty="0">
                <a:latin typeface="Space Grotesk" panose="020B0600000101010101" charset="0"/>
                <a:cs typeface="Space Grotesk" panose="020B0600000101010101" charset="0"/>
              </a:rPr>
              <a:t>stratified</a:t>
            </a:r>
            <a:r>
              <a:rPr lang="en-US" dirty="0"/>
              <a:t>, seed 42)</a:t>
            </a:r>
            <a:endParaRPr lang="en-US" dirty="0">
              <a:latin typeface="Space Grotesk" panose="020B0600000101010101" charset="0"/>
              <a:cs typeface="Space Grotesk" panose="020B0600000101010101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6713638"/>
              </p:ext>
            </p:extLst>
          </p:nvPr>
        </p:nvGraphicFramePr>
        <p:xfrm>
          <a:off x="3428999" y="3197043"/>
          <a:ext cx="5314413" cy="143256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771471">
                  <a:extLst>
                    <a:ext uri="{9D8B030D-6E8A-4147-A177-3AD203B41FA5}">
                      <a16:colId xmlns:a16="http://schemas.microsoft.com/office/drawing/2014/main" val="653532726"/>
                    </a:ext>
                  </a:extLst>
                </a:gridCol>
                <a:gridCol w="1771471">
                  <a:extLst>
                    <a:ext uri="{9D8B030D-6E8A-4147-A177-3AD203B41FA5}">
                      <a16:colId xmlns:a16="http://schemas.microsoft.com/office/drawing/2014/main" val="2982786233"/>
                    </a:ext>
                  </a:extLst>
                </a:gridCol>
                <a:gridCol w="1771471">
                  <a:extLst>
                    <a:ext uri="{9D8B030D-6E8A-4147-A177-3AD203B41FA5}">
                      <a16:colId xmlns:a16="http://schemas.microsoft.com/office/drawing/2014/main" val="1305986617"/>
                    </a:ext>
                  </a:extLst>
                </a:gridCol>
              </a:tblGrid>
              <a:tr h="273535">
                <a:tc>
                  <a:txBody>
                    <a:bodyPr/>
                    <a:lstStyle/>
                    <a:p>
                      <a:r>
                        <a:rPr lang="en-US"/>
                        <a:t>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Share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Messages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4352090"/>
                  </a:ext>
                </a:extLst>
              </a:tr>
              <a:tr h="273535">
                <a:tc>
                  <a:txBody>
                    <a:bodyPr/>
                    <a:lstStyle/>
                    <a:p>
                      <a:r>
                        <a:rPr lang="en-US"/>
                        <a:t>Train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70%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3,900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9415970"/>
                  </a:ext>
                </a:extLst>
              </a:tr>
              <a:tr h="273535">
                <a:tc>
                  <a:txBody>
                    <a:bodyPr/>
                    <a:lstStyle/>
                    <a:p>
                      <a:r>
                        <a:rPr lang="en-US"/>
                        <a:t>Validation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836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9380117"/>
                  </a:ext>
                </a:extLst>
              </a:tr>
              <a:tr h="446068">
                <a:tc>
                  <a:txBody>
                    <a:bodyPr/>
                    <a:lstStyle/>
                    <a:p>
                      <a:r>
                        <a:rPr lang="en-US"/>
                        <a:t>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836 (724 ham / 112 spam)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2523266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720000" y="2847722"/>
            <a:ext cx="24804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latin typeface="Space Grotesk" panose="020B0600000101010101" charset="0"/>
                <a:cs typeface="Space Grotesk" panose="020B0600000101010101" charset="0"/>
              </a:rPr>
              <a:t>Source:</a:t>
            </a:r>
            <a:r>
              <a:rPr lang="en-US" sz="1200" dirty="0">
                <a:latin typeface="Space Grotesk" panose="020B0600000101010101" charset="0"/>
                <a:cs typeface="Space Grotesk" panose="020B0600000101010101" charset="0"/>
              </a:rPr>
              <a:t> UCI SMS Spam Collection (Almeida &amp; Hidalgo, 2011), manually labeled. It is the “Text Transformer” dataset in your course list (UCI ID 228</a:t>
            </a:r>
            <a:r>
              <a:rPr lang="en-US" sz="1200" dirty="0" smtClean="0">
                <a:latin typeface="Space Grotesk" panose="020B0600000101010101" charset="0"/>
                <a:cs typeface="Space Grotesk" panose="020B0600000101010101" charset="0"/>
              </a:rPr>
              <a:t>).</a:t>
            </a:r>
            <a:endParaRPr lang="en-US" sz="1200" dirty="0">
              <a:latin typeface="Space Grotesk" panose="020B0600000101010101" charset="0"/>
              <a:cs typeface="Space Grotesk" panose="020B0600000101010101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 smtClean="0">
                <a:latin typeface="Space Grotesk" panose="020B0600000101010101" charset="0"/>
                <a:cs typeface="Space Grotesk" panose="020B0600000101010101" charset="0"/>
              </a:rPr>
              <a:t>Limitations :</a:t>
            </a:r>
            <a:r>
              <a:rPr lang="en-US" sz="1200" dirty="0" smtClean="0">
                <a:latin typeface="Space Grotesk" panose="020B0600000101010101" charset="0"/>
                <a:cs typeface="Space Grotesk" panose="020B0600000101010101" charset="0"/>
              </a:rPr>
              <a:t> </a:t>
            </a:r>
            <a:r>
              <a:rPr lang="en-US" sz="1200" dirty="0">
                <a:latin typeface="Space Grotesk" panose="020B0600000101010101" charset="0"/>
                <a:cs typeface="Space Grotesk" panose="020B0600000101010101" charset="0"/>
              </a:rPr>
              <a:t>data from 2011–2012, mostly UK-based, English only, binary labels, small size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9"/>
          <p:cNvSpPr txBox="1">
            <a:spLocks noGrp="1"/>
          </p:cNvSpPr>
          <p:nvPr>
            <p:ph type="title"/>
          </p:nvPr>
        </p:nvSpPr>
        <p:spPr>
          <a:xfrm>
            <a:off x="4076350" y="2296400"/>
            <a:ext cx="1217545" cy="108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03 </a:t>
            </a:r>
            <a:endParaRPr dirty="0"/>
          </a:p>
        </p:txBody>
      </p:sp>
      <p:pic>
        <p:nvPicPr>
          <p:cNvPr id="421" name="Google Shape;42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0" y="0"/>
            <a:ext cx="340519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2" name="Google Shape;422;p39"/>
          <p:cNvGrpSpPr/>
          <p:nvPr/>
        </p:nvGrpSpPr>
        <p:grpSpPr>
          <a:xfrm flipH="1">
            <a:off x="4821451" y="-1610442"/>
            <a:ext cx="4574075" cy="3479350"/>
            <a:chOff x="1522650" y="1117750"/>
            <a:chExt cx="4574075" cy="3479350"/>
          </a:xfrm>
        </p:grpSpPr>
        <p:sp>
          <p:nvSpPr>
            <p:cNvPr id="423" name="Google Shape;423;p39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9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" name="Google Shape;293;p33"/>
          <p:cNvSpPr txBox="1">
            <a:spLocks noGrp="1"/>
          </p:cNvSpPr>
          <p:nvPr/>
        </p:nvSpPr>
        <p:spPr>
          <a:xfrm>
            <a:off x="5293895" y="1212350"/>
            <a:ext cx="4383600" cy="16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4800" b="0" i="0" u="none" strike="noStrike" cap="none" spc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 spc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 spc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 spc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 spc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 spc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 spc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 spc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 spc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lvl="0"/>
            <a:r>
              <a:rPr lang="en-US" dirty="0"/>
              <a:t>Data </a:t>
            </a:r>
            <a:r>
              <a:rPr lang="en-US" dirty="0">
                <a:solidFill>
                  <a:schemeClr val="accent2"/>
                </a:solidFill>
              </a:rPr>
              <a:t>Exploratory</a:t>
            </a:r>
            <a:r>
              <a:rPr lang="en-US" dirty="0"/>
              <a:t> Analysis </a:t>
            </a:r>
            <a:endParaRPr dirty="0">
              <a:solidFill>
                <a:srgbClr val="00B0F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Data Exploratory </a:t>
            </a:r>
            <a:r>
              <a:rPr lang="en" dirty="0" smtClean="0">
                <a:solidFill>
                  <a:schemeClr val="accent2"/>
                </a:solidFill>
              </a:rPr>
              <a:t>Analysis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8" name="Subtitle 7"/>
          <p:cNvSpPr>
            <a:spLocks noGrp="1"/>
          </p:cNvSpPr>
          <p:nvPr>
            <p:ph type="subTitle" idx="5"/>
          </p:nvPr>
        </p:nvSpPr>
        <p:spPr>
          <a:xfrm>
            <a:off x="633262" y="2925550"/>
            <a:ext cx="3555622" cy="1450978"/>
          </a:xfrm>
        </p:spPr>
        <p:txBody>
          <a:bodyPr/>
          <a:lstStyle/>
          <a:p>
            <a:r>
              <a:rPr lang="en-US" sz="1400" dirty="0"/>
              <a:t>Predicting “ham” for </a:t>
            </a:r>
            <a:r>
              <a:rPr lang="en-US" sz="1400" dirty="0" smtClean="0"/>
              <a:t>everything</a:t>
            </a:r>
          </a:p>
          <a:p>
            <a:r>
              <a:rPr lang="en-US" sz="1400" dirty="0" smtClean="0"/>
              <a:t>gives 86.6% accuracy </a:t>
            </a:r>
            <a:r>
              <a:rPr lang="en-US" sz="1400" dirty="0"/>
              <a:t>but </a:t>
            </a:r>
            <a:r>
              <a:rPr lang="en-US" sz="1400" dirty="0" smtClean="0"/>
              <a:t>detects</a:t>
            </a:r>
          </a:p>
          <a:p>
            <a:r>
              <a:rPr lang="en-US" sz="1400" dirty="0" smtClean="0"/>
              <a:t>zero </a:t>
            </a:r>
            <a:r>
              <a:rPr lang="en-US" sz="1400" dirty="0"/>
              <a:t>spam, so </a:t>
            </a:r>
            <a:r>
              <a:rPr lang="en-US" sz="1400" dirty="0" smtClean="0"/>
              <a:t>accuracy alone is</a:t>
            </a:r>
          </a:p>
          <a:p>
            <a:r>
              <a:rPr lang="en-US" sz="1400" dirty="0" smtClean="0"/>
              <a:t>misleading</a:t>
            </a:r>
            <a:endParaRPr lang="en-US" sz="1400" dirty="0"/>
          </a:p>
        </p:txBody>
      </p:sp>
      <p:pic>
        <p:nvPicPr>
          <p:cNvPr id="42" name="class.png" descr="class.png" title="class.png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3262" y="1331675"/>
            <a:ext cx="3305475" cy="2005414"/>
          </a:xfrm>
          <a:prstGeom prst="rect">
            <a:avLst/>
          </a:prstGeom>
        </p:spPr>
      </p:pic>
      <p:pic>
        <p:nvPicPr>
          <p:cNvPr id="43" name="Picture 42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8737" y="1331675"/>
            <a:ext cx="4708389" cy="2112150"/>
          </a:xfrm>
          <a:prstGeom prst="rect">
            <a:avLst/>
          </a:prstGeom>
        </p:spPr>
      </p:pic>
      <p:sp>
        <p:nvSpPr>
          <p:cNvPr id="44" name="Subtitle 7"/>
          <p:cNvSpPr>
            <a:spLocks noGrp="1"/>
          </p:cNvSpPr>
          <p:nvPr>
            <p:ph type="subTitle" idx="5"/>
          </p:nvPr>
        </p:nvSpPr>
        <p:spPr>
          <a:xfrm>
            <a:off x="4188884" y="3443825"/>
            <a:ext cx="3555622" cy="779086"/>
          </a:xfrm>
        </p:spPr>
        <p:txBody>
          <a:bodyPr/>
          <a:lstStyle/>
          <a:p>
            <a:r>
              <a:rPr lang="en-US" sz="1400" dirty="0"/>
              <a:t>Spam is longer and more </a:t>
            </a:r>
            <a:r>
              <a:rPr lang="en-US" sz="1400" dirty="0" smtClean="0"/>
              <a:t>uniform:</a:t>
            </a:r>
          </a:p>
          <a:p>
            <a:r>
              <a:rPr lang="en-US" sz="1400" dirty="0" smtClean="0"/>
              <a:t>138.7 </a:t>
            </a:r>
            <a:r>
              <a:rPr lang="en-US" sz="1400" dirty="0"/>
              <a:t>characters (SD 28.9) vs. </a:t>
            </a:r>
            <a:r>
              <a:rPr lang="en-US" sz="1400" dirty="0" smtClean="0"/>
              <a:t>ham</a:t>
            </a:r>
          </a:p>
          <a:p>
            <a:r>
              <a:rPr lang="en-US" sz="1400" dirty="0" smtClean="0"/>
              <a:t>71.5 </a:t>
            </a:r>
            <a:r>
              <a:rPr lang="en-US" sz="1400" dirty="0"/>
              <a:t>(SD 58.4)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Data Exploratory </a:t>
            </a:r>
            <a:r>
              <a:rPr lang="en" dirty="0" smtClean="0">
                <a:solidFill>
                  <a:schemeClr val="accent2"/>
                </a:solidFill>
              </a:rPr>
              <a:t>Analysis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8" name="Subtitle 7"/>
          <p:cNvSpPr>
            <a:spLocks noGrp="1"/>
          </p:cNvSpPr>
          <p:nvPr>
            <p:ph type="subTitle" idx="5"/>
          </p:nvPr>
        </p:nvSpPr>
        <p:spPr>
          <a:xfrm>
            <a:off x="720000" y="3056212"/>
            <a:ext cx="7343675" cy="1450978"/>
          </a:xfrm>
        </p:spPr>
        <p:txBody>
          <a:bodyPr/>
          <a:lstStyle/>
          <a:p>
            <a:r>
              <a:rPr lang="en-US" sz="1400" dirty="0">
                <a:solidFill>
                  <a:srgbClr val="0070C0"/>
                </a:solidFill>
              </a:rPr>
              <a:t>Length and keywords help, </a:t>
            </a:r>
            <a:r>
              <a:rPr lang="en-US" sz="1400" dirty="0" smtClean="0">
                <a:solidFill>
                  <a:srgbClr val="0070C0"/>
                </a:solidFill>
              </a:rPr>
              <a:t>but attackers </a:t>
            </a:r>
            <a:r>
              <a:rPr lang="en-US" sz="1400" dirty="0">
                <a:solidFill>
                  <a:srgbClr val="0070C0"/>
                </a:solidFill>
              </a:rPr>
              <a:t>beat them </a:t>
            </a:r>
            <a:r>
              <a:rPr lang="en-US" sz="1400" dirty="0" smtClean="0">
                <a:solidFill>
                  <a:srgbClr val="0070C0"/>
                </a:solidFill>
              </a:rPr>
              <a:t>with obfuscation </a:t>
            </a:r>
            <a:r>
              <a:rPr lang="en-US" sz="1400" dirty="0">
                <a:solidFill>
                  <a:srgbClr val="0070C0"/>
                </a:solidFill>
              </a:rPr>
              <a:t>(“FR33</a:t>
            </a:r>
            <a:r>
              <a:rPr lang="en-US" sz="1400" dirty="0" smtClean="0">
                <a:solidFill>
                  <a:srgbClr val="0070C0"/>
                </a:solidFill>
              </a:rPr>
              <a:t>”,</a:t>
            </a:r>
          </a:p>
          <a:p>
            <a:r>
              <a:rPr lang="en-US" sz="1400" dirty="0" smtClean="0">
                <a:solidFill>
                  <a:srgbClr val="0070C0"/>
                </a:solidFill>
              </a:rPr>
              <a:t>“</a:t>
            </a:r>
            <a:r>
              <a:rPr lang="en-US" sz="1400" dirty="0">
                <a:solidFill>
                  <a:srgbClr val="0070C0"/>
                </a:solidFill>
              </a:rPr>
              <a:t>W!N”) </a:t>
            </a:r>
            <a:r>
              <a:rPr lang="en-US" sz="1400" dirty="0" smtClean="0">
                <a:solidFill>
                  <a:srgbClr val="0070C0"/>
                </a:solidFill>
              </a:rPr>
              <a:t>and conversational </a:t>
            </a:r>
            <a:r>
              <a:rPr lang="en-US" sz="1400" dirty="0">
                <a:solidFill>
                  <a:srgbClr val="0070C0"/>
                </a:solidFill>
              </a:rPr>
              <a:t>disguise. </a:t>
            </a:r>
            <a:r>
              <a:rPr lang="en-US" sz="1400" dirty="0" smtClean="0">
                <a:solidFill>
                  <a:srgbClr val="0070C0"/>
                </a:solidFill>
              </a:rPr>
              <a:t>This motivates </a:t>
            </a:r>
            <a:r>
              <a:rPr lang="en-US" sz="1400" dirty="0">
                <a:solidFill>
                  <a:srgbClr val="0070C0"/>
                </a:solidFill>
              </a:rPr>
              <a:t>semantic evaluation.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0542874"/>
              </p:ext>
            </p:extLst>
          </p:nvPr>
        </p:nvGraphicFramePr>
        <p:xfrm>
          <a:off x="705576" y="1447213"/>
          <a:ext cx="7718424" cy="2016000"/>
        </p:xfrm>
        <a:graphic>
          <a:graphicData uri="http://schemas.openxmlformats.org/drawingml/2006/table">
            <a:tbl>
              <a:tblPr>
                <a:tableStyleId>{72833802-FEF1-4C79-8D5D-14CF1EAF98D9}</a:tableStyleId>
              </a:tblPr>
              <a:tblGrid>
                <a:gridCol w="3859212">
                  <a:extLst>
                    <a:ext uri="{9D8B030D-6E8A-4147-A177-3AD203B41FA5}">
                      <a16:colId xmlns:a16="http://schemas.microsoft.com/office/drawing/2014/main" val="3461332368"/>
                    </a:ext>
                  </a:extLst>
                </a:gridCol>
                <a:gridCol w="3859212">
                  <a:extLst>
                    <a:ext uri="{9D8B030D-6E8A-4147-A177-3AD203B41FA5}">
                      <a16:colId xmlns:a16="http://schemas.microsoft.com/office/drawing/2014/main" val="3201367117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r>
                        <a:rPr lang="en-US" sz="1400" b="1"/>
                        <a:t>Ham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Spam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4683168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r>
                        <a:rPr lang="en-US" sz="1400"/>
                        <a:t>Personal: know, love, call, friend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Promotional: FREE, call, text, reply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027796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r>
                        <a:rPr lang="en-US" sz="1400"/>
                        <a:t>Time: now, later, today, tomorrow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Prize: claim, win, prize, won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533417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r>
                        <a:rPr lang="pl-PL" sz="1400"/>
                        <a:t>Casual: u, ur, yeah, ok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Urgency: now, URGENT, STOP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71287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38057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5" name="Google Shape;405;p38"/>
          <p:cNvGrpSpPr/>
          <p:nvPr/>
        </p:nvGrpSpPr>
        <p:grpSpPr>
          <a:xfrm rot="4659980" flipH="1">
            <a:off x="3840892" y="3123036"/>
            <a:ext cx="4573980" cy="3479278"/>
            <a:chOff x="1522650" y="1117750"/>
            <a:chExt cx="4574075" cy="3479350"/>
          </a:xfrm>
        </p:grpSpPr>
        <p:sp>
          <p:nvSpPr>
            <p:cNvPr id="406" name="Google Shape;406;p38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38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9" name="Google Shape;409;p38"/>
          <p:cNvSpPr txBox="1">
            <a:spLocks noGrp="1"/>
          </p:cNvSpPr>
          <p:nvPr>
            <p:ph type="title"/>
          </p:nvPr>
        </p:nvSpPr>
        <p:spPr>
          <a:xfrm>
            <a:off x="1795005" y="2256873"/>
            <a:ext cx="4052342" cy="667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Data Preprocessing</a:t>
            </a:r>
            <a:endParaRPr dirty="0"/>
          </a:p>
        </p:txBody>
      </p:sp>
      <p:sp>
        <p:nvSpPr>
          <p:cNvPr id="410" name="Google Shape;410;p38"/>
          <p:cNvSpPr txBox="1">
            <a:spLocks noGrp="1"/>
          </p:cNvSpPr>
          <p:nvPr>
            <p:ph type="title" idx="2"/>
          </p:nvPr>
        </p:nvSpPr>
        <p:spPr>
          <a:xfrm>
            <a:off x="803532" y="2134293"/>
            <a:ext cx="868857" cy="87491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04</a:t>
            </a:r>
            <a:endParaRPr dirty="0"/>
          </a:p>
        </p:txBody>
      </p:sp>
      <p:pic>
        <p:nvPicPr>
          <p:cNvPr id="414" name="Google Shape;41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 flipH="1">
            <a:off x="5738810" y="0"/>
            <a:ext cx="340519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7"/>
          <p:cNvSpPr txBox="1">
            <a:spLocks noGrp="1"/>
          </p:cNvSpPr>
          <p:nvPr>
            <p:ph type="title"/>
          </p:nvPr>
        </p:nvSpPr>
        <p:spPr>
          <a:xfrm>
            <a:off x="719996" y="32027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Data Preprocessing</a:t>
            </a:r>
            <a:endParaRPr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42" t="16540" r="4606" b="41685"/>
          <a:stretch/>
        </p:blipFill>
        <p:spPr>
          <a:xfrm>
            <a:off x="719996" y="892972"/>
            <a:ext cx="7182853" cy="1629636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19996" y="2522608"/>
            <a:ext cx="28392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Space Grotesk" panose="020B0600000101010101" charset="0"/>
                <a:cs typeface="Space Grotesk" panose="020B0600000101010101" charset="0"/>
              </a:rPr>
              <a:t>Model-specific preprocessing: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6655217"/>
              </p:ext>
            </p:extLst>
          </p:nvPr>
        </p:nvGraphicFramePr>
        <p:xfrm>
          <a:off x="719996" y="2830385"/>
          <a:ext cx="5981592" cy="207264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2990796">
                  <a:extLst>
                    <a:ext uri="{9D8B030D-6E8A-4147-A177-3AD203B41FA5}">
                      <a16:colId xmlns:a16="http://schemas.microsoft.com/office/drawing/2014/main" val="1404916611"/>
                    </a:ext>
                  </a:extLst>
                </a:gridCol>
                <a:gridCol w="2990796">
                  <a:extLst>
                    <a:ext uri="{9D8B030D-6E8A-4147-A177-3AD203B41FA5}">
                      <a16:colId xmlns:a16="http://schemas.microsoft.com/office/drawing/2014/main" val="1231738012"/>
                    </a:ext>
                  </a:extLst>
                </a:gridCol>
              </a:tblGrid>
              <a:tr h="204653">
                <a:tc>
                  <a:txBody>
                    <a:bodyPr/>
                    <a:lstStyle/>
                    <a:p>
                      <a:r>
                        <a:rPr lang="en-US" sz="1400">
                          <a:latin typeface="Space Grotesk" panose="020B0600000101010101" charset="0"/>
                          <a:cs typeface="Space Grotesk" panose="020B0600000101010101" charset="0"/>
                        </a:rPr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Space Grotesk" panose="020B0600000101010101" charset="0"/>
                          <a:cs typeface="Space Grotesk" panose="020B0600000101010101" charset="0"/>
                        </a:rPr>
                        <a:t>Input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7948490"/>
                  </a:ext>
                </a:extLst>
              </a:tr>
              <a:tr h="347910">
                <a:tc>
                  <a:txBody>
                    <a:bodyPr/>
                    <a:lstStyle/>
                    <a:p>
                      <a:r>
                        <a:rPr lang="en-US" sz="1400">
                          <a:latin typeface="Space Grotesk" panose="020B0600000101010101" charset="0"/>
                          <a:cs typeface="Space Grotesk" panose="020B0600000101010101" charset="0"/>
                        </a:rPr>
                        <a:t>TF-IDF + LogReg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Space Grotesk" panose="020B0600000101010101" charset="0"/>
                          <a:cs typeface="Space Grotesk" panose="020B0600000101010101" charset="0"/>
                        </a:rPr>
                        <a:t>Cleaned text, 3,000 unigrams, English stop words removed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6319140"/>
                  </a:ext>
                </a:extLst>
              </a:tr>
              <a:tr h="347910">
                <a:tc>
                  <a:txBody>
                    <a:bodyPr/>
                    <a:lstStyle/>
                    <a:p>
                      <a:r>
                        <a:rPr lang="en-US" sz="1400">
                          <a:latin typeface="Space Grotesk" panose="020B0600000101010101" charset="0"/>
                          <a:cs typeface="Space Grotesk" panose="020B0600000101010101" charset="0"/>
                        </a:rPr>
                        <a:t>BiLSTM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Space Grotesk" panose="020B0600000101010101" charset="0"/>
                          <a:cs typeface="Space Grotesk" panose="020B0600000101010101" charset="0"/>
                        </a:rPr>
                        <a:t>Top 5,000 tokens, padded/truncated to 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3608626"/>
                  </a:ext>
                </a:extLst>
              </a:tr>
              <a:tr h="491167">
                <a:tc>
                  <a:txBody>
                    <a:bodyPr/>
                    <a:lstStyle/>
                    <a:p>
                      <a:r>
                        <a:rPr lang="en-US" sz="1400">
                          <a:latin typeface="Space Grotesk" panose="020B0600000101010101" charset="0"/>
                          <a:cs typeface="Space Grotesk" panose="020B0600000101010101" charset="0"/>
                        </a:rPr>
                        <a:t>DistilBERT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Space Grotesk" panose="020B0600000101010101" charset="0"/>
                          <a:cs typeface="Space Grotesk" panose="020B0600000101010101" charset="0"/>
                        </a:rPr>
                        <a:t>Raw text, </a:t>
                      </a:r>
                      <a:r>
                        <a:rPr lang="en-US" sz="1400" dirty="0" err="1">
                          <a:latin typeface="Space Grotesk" panose="020B0600000101010101" charset="0"/>
                          <a:cs typeface="Space Grotesk" panose="020B0600000101010101" charset="0"/>
                        </a:rPr>
                        <a:t>WordPiece</a:t>
                      </a:r>
                      <a:r>
                        <a:rPr lang="en-US" sz="1400" dirty="0">
                          <a:latin typeface="Space Grotesk" panose="020B0600000101010101" charset="0"/>
                          <a:cs typeface="Space Grotesk" panose="020B0600000101010101" charset="0"/>
                        </a:rPr>
                        <a:t> (30,522 vocab), 128 tokens, no stop-word removal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4683049"/>
                  </a:ext>
                </a:extLst>
              </a:tr>
            </a:tbl>
          </a:graphicData>
        </a:graphic>
      </p:graphicFrame>
      <p:cxnSp>
        <p:nvCxnSpPr>
          <p:cNvPr id="18" name="Curved Connector 17"/>
          <p:cNvCxnSpPr>
            <a:endCxn id="20" idx="2"/>
          </p:cNvCxnSpPr>
          <p:nvPr/>
        </p:nvCxnSpPr>
        <p:spPr>
          <a:xfrm rot="5400000" flipH="1" flipV="1">
            <a:off x="6210346" y="4105322"/>
            <a:ext cx="1099452" cy="495959"/>
          </a:xfrm>
          <a:prstGeom prst="curvedConnector2">
            <a:avLst/>
          </a:prstGeom>
          <a:ln>
            <a:solidFill>
              <a:srgbClr val="00B0F0">
                <a:alpha val="40000"/>
              </a:srgb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Cloud 19"/>
          <p:cNvSpPr/>
          <p:nvPr/>
        </p:nvSpPr>
        <p:spPr>
          <a:xfrm>
            <a:off x="7002379" y="3095308"/>
            <a:ext cx="1828800" cy="1416534"/>
          </a:xfrm>
          <a:prstGeom prst="cloud">
            <a:avLst/>
          </a:prstGeom>
          <a:solidFill>
            <a:srgbClr val="00B0F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218947" y="3222974"/>
            <a:ext cx="1600200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chemeClr val="accent6"/>
                </a:solidFill>
              </a:rPr>
              <a:t>Labels are encoded ham = 0, spam = 1. Vocabulary and TF-IDF are fit on the training set only, so there is no data leakage.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0" y="0"/>
            <a:ext cx="340519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3"/>
          <p:cNvSpPr txBox="1">
            <a:spLocks noGrp="1"/>
          </p:cNvSpPr>
          <p:nvPr>
            <p:ph type="title"/>
          </p:nvPr>
        </p:nvSpPr>
        <p:spPr>
          <a:xfrm>
            <a:off x="4047175" y="2388500"/>
            <a:ext cx="4383600" cy="16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Baseline </a:t>
            </a:r>
            <a:r>
              <a:rPr lang="en-US" dirty="0">
                <a:solidFill>
                  <a:srgbClr val="00B0F0"/>
                </a:solidFill>
              </a:rPr>
              <a:t>Models</a:t>
            </a:r>
            <a:endParaRPr dirty="0">
              <a:solidFill>
                <a:srgbClr val="00B0F0"/>
              </a:solidFill>
            </a:endParaRPr>
          </a:p>
        </p:txBody>
      </p:sp>
      <p:sp>
        <p:nvSpPr>
          <p:cNvPr id="294" name="Google Shape;294;p33"/>
          <p:cNvSpPr txBox="1">
            <a:spLocks noGrp="1"/>
          </p:cNvSpPr>
          <p:nvPr>
            <p:ph type="title" idx="2"/>
          </p:nvPr>
        </p:nvSpPr>
        <p:spPr>
          <a:xfrm>
            <a:off x="4047175" y="1438750"/>
            <a:ext cx="1230300" cy="88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05</a:t>
            </a:r>
            <a:endParaRPr dirty="0"/>
          </a:p>
        </p:txBody>
      </p:sp>
      <p:grpSp>
        <p:nvGrpSpPr>
          <p:cNvPr id="295" name="Google Shape;295;p33"/>
          <p:cNvGrpSpPr/>
          <p:nvPr/>
        </p:nvGrpSpPr>
        <p:grpSpPr>
          <a:xfrm rot="756538">
            <a:off x="5159567" y="-1610422"/>
            <a:ext cx="4574157" cy="3479412"/>
            <a:chOff x="1522650" y="1117750"/>
            <a:chExt cx="4574075" cy="3479350"/>
          </a:xfrm>
        </p:grpSpPr>
        <p:sp>
          <p:nvSpPr>
            <p:cNvPr id="296" name="Google Shape;296;p33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3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8999532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5" name="Google Shape;405;p38"/>
          <p:cNvGrpSpPr/>
          <p:nvPr/>
        </p:nvGrpSpPr>
        <p:grpSpPr>
          <a:xfrm rot="4659980" flipH="1">
            <a:off x="5730343" y="3604299"/>
            <a:ext cx="4573980" cy="3479278"/>
            <a:chOff x="1522650" y="1117750"/>
            <a:chExt cx="4574075" cy="3479350"/>
          </a:xfrm>
        </p:grpSpPr>
        <p:sp>
          <p:nvSpPr>
            <p:cNvPr id="406" name="Google Shape;406;p38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38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14" name="Google Shape;41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 flipH="1">
            <a:off x="6290004" y="0"/>
            <a:ext cx="340519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293;p33"/>
          <p:cNvSpPr txBox="1">
            <a:spLocks noGrp="1"/>
          </p:cNvSpPr>
          <p:nvPr>
            <p:ph type="title"/>
          </p:nvPr>
        </p:nvSpPr>
        <p:spPr>
          <a:xfrm>
            <a:off x="783772" y="449317"/>
            <a:ext cx="2440691" cy="45305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1600" dirty="0"/>
              <a:t>Baseline </a:t>
            </a:r>
            <a:r>
              <a:rPr lang="en-US" sz="1600" dirty="0">
                <a:solidFill>
                  <a:srgbClr val="00B0F0"/>
                </a:solidFill>
              </a:rPr>
              <a:t>Models</a:t>
            </a:r>
            <a:endParaRPr sz="1600" dirty="0">
              <a:solidFill>
                <a:srgbClr val="00B0F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638" y="1407803"/>
            <a:ext cx="5346888" cy="3587153"/>
          </a:xfrm>
          <a:prstGeom prst="rect">
            <a:avLst/>
          </a:prstGeom>
        </p:spPr>
      </p:pic>
      <p:sp>
        <p:nvSpPr>
          <p:cNvPr id="410" name="Google Shape;410;p38"/>
          <p:cNvSpPr txBox="1">
            <a:spLocks noGrp="1"/>
          </p:cNvSpPr>
          <p:nvPr>
            <p:ph type="title" idx="2"/>
          </p:nvPr>
        </p:nvSpPr>
        <p:spPr>
          <a:xfrm>
            <a:off x="783772" y="902367"/>
            <a:ext cx="7253323" cy="44143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1400" dirty="0"/>
              <a:t>One controlled comparison: same data · same split · same metrics · same seed (42)</a:t>
            </a:r>
            <a:endParaRPr sz="1400" dirty="0"/>
          </a:p>
        </p:txBody>
      </p:sp>
    </p:spTree>
    <p:extLst>
      <p:ext uri="{BB962C8B-B14F-4D97-AF65-F5344CB8AC3E}">
        <p14:creationId xmlns:p14="http://schemas.microsoft.com/office/powerpoint/2010/main" val="2630129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9"/>
          <p:cNvSpPr txBox="1">
            <a:spLocks noGrp="1"/>
          </p:cNvSpPr>
          <p:nvPr>
            <p:ph type="title"/>
          </p:nvPr>
        </p:nvSpPr>
        <p:spPr>
          <a:xfrm>
            <a:off x="4076350" y="2296400"/>
            <a:ext cx="1217545" cy="108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06 </a:t>
            </a:r>
            <a:endParaRPr dirty="0"/>
          </a:p>
        </p:txBody>
      </p:sp>
      <p:pic>
        <p:nvPicPr>
          <p:cNvPr id="421" name="Google Shape;42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0" y="0"/>
            <a:ext cx="340519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2" name="Google Shape;422;p39"/>
          <p:cNvGrpSpPr/>
          <p:nvPr/>
        </p:nvGrpSpPr>
        <p:grpSpPr>
          <a:xfrm flipH="1">
            <a:off x="4821451" y="-1610442"/>
            <a:ext cx="4574075" cy="3479350"/>
            <a:chOff x="1522650" y="1117750"/>
            <a:chExt cx="4574075" cy="3479350"/>
          </a:xfrm>
        </p:grpSpPr>
        <p:sp>
          <p:nvSpPr>
            <p:cNvPr id="423" name="Google Shape;423;p39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9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" name="Google Shape;293;p33"/>
          <p:cNvSpPr txBox="1">
            <a:spLocks noGrp="1"/>
          </p:cNvSpPr>
          <p:nvPr/>
        </p:nvSpPr>
        <p:spPr>
          <a:xfrm>
            <a:off x="5293895" y="1212350"/>
            <a:ext cx="4383600" cy="16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4800" b="0" i="0" u="none" strike="noStrike" cap="none" spc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 spc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 spc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 spc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 spc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 spc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 spc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 spc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 spc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lvl="0"/>
            <a:r>
              <a:rPr lang="en-US" dirty="0" err="1" smtClean="0"/>
              <a:t>DistilBERT</a:t>
            </a:r>
            <a:r>
              <a:rPr lang="en-US" dirty="0" smtClean="0"/>
              <a:t> Model- </a:t>
            </a:r>
            <a:r>
              <a:rPr lang="en-US" dirty="0" smtClean="0">
                <a:solidFill>
                  <a:srgbClr val="00B0F0"/>
                </a:solidFill>
              </a:rPr>
              <a:t>Working Principle</a:t>
            </a:r>
            <a:endParaRPr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6695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9"/>
          <p:cNvSpPr txBox="1">
            <a:spLocks noGrp="1"/>
          </p:cNvSpPr>
          <p:nvPr>
            <p:ph type="title"/>
          </p:nvPr>
        </p:nvSpPr>
        <p:spPr>
          <a:xfrm>
            <a:off x="3286708" y="355338"/>
            <a:ext cx="5143078" cy="108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r"/>
            <a:r>
              <a:rPr lang="en-US" sz="2400" dirty="0"/>
              <a:t>BERT-base vs. </a:t>
            </a:r>
            <a:r>
              <a:rPr lang="en-US" sz="2400" dirty="0" err="1"/>
              <a:t>DistilBERT</a:t>
            </a:r>
            <a:r>
              <a:rPr lang="en-US" sz="2400" dirty="0"/>
              <a:t> architecture figure</a:t>
            </a:r>
            <a:endParaRPr sz="2400" dirty="0"/>
          </a:p>
        </p:txBody>
      </p:sp>
      <p:pic>
        <p:nvPicPr>
          <p:cNvPr id="421" name="Google Shape;42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4334607" y="0"/>
            <a:ext cx="5355799" cy="64832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2" name="Google Shape;422;p39"/>
          <p:cNvGrpSpPr/>
          <p:nvPr/>
        </p:nvGrpSpPr>
        <p:grpSpPr>
          <a:xfrm flipH="1">
            <a:off x="5470489" y="-1696783"/>
            <a:ext cx="4574075" cy="3479350"/>
            <a:chOff x="1522650" y="1117750"/>
            <a:chExt cx="4574075" cy="3479350"/>
          </a:xfrm>
        </p:grpSpPr>
        <p:sp>
          <p:nvSpPr>
            <p:cNvPr id="423" name="Google Shape;423;p39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9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8" name="Picture 7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9855" y="1436778"/>
            <a:ext cx="4656783" cy="225255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0202908"/>
              </p:ext>
            </p:extLst>
          </p:nvPr>
        </p:nvGraphicFramePr>
        <p:xfrm>
          <a:off x="663801" y="381520"/>
          <a:ext cx="2415424" cy="2860096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207712">
                  <a:extLst>
                    <a:ext uri="{9D8B030D-6E8A-4147-A177-3AD203B41FA5}">
                      <a16:colId xmlns:a16="http://schemas.microsoft.com/office/drawing/2014/main" val="3101595384"/>
                    </a:ext>
                  </a:extLst>
                </a:gridCol>
                <a:gridCol w="1207712">
                  <a:extLst>
                    <a:ext uri="{9D8B030D-6E8A-4147-A177-3AD203B41FA5}">
                      <a16:colId xmlns:a16="http://schemas.microsoft.com/office/drawing/2014/main" val="837675234"/>
                    </a:ext>
                  </a:extLst>
                </a:gridCol>
              </a:tblGrid>
              <a:tr h="326404">
                <a:tc>
                  <a:txBody>
                    <a:bodyPr/>
                    <a:lstStyle/>
                    <a:p>
                      <a:r>
                        <a:rPr lang="en-US" sz="1400" b="1"/>
                        <a:t>Parameter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3880831"/>
                  </a:ext>
                </a:extLst>
              </a:tr>
              <a:tr h="326404">
                <a:tc>
                  <a:txBody>
                    <a:bodyPr/>
                    <a:lstStyle/>
                    <a:p>
                      <a:r>
                        <a:rPr lang="en-US" sz="1400"/>
                        <a:t>Encoder layers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506861"/>
                  </a:ext>
                </a:extLst>
              </a:tr>
              <a:tr h="326404">
                <a:tc>
                  <a:txBody>
                    <a:bodyPr/>
                    <a:lstStyle/>
                    <a:p>
                      <a:r>
                        <a:rPr lang="en-US" sz="1400"/>
                        <a:t>Hidden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768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9090338"/>
                  </a:ext>
                </a:extLst>
              </a:tr>
              <a:tr h="326404">
                <a:tc>
                  <a:txBody>
                    <a:bodyPr/>
                    <a:lstStyle/>
                    <a:p>
                      <a:r>
                        <a:rPr lang="en-US" sz="1400" dirty="0"/>
                        <a:t>Attention heads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12 per layer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9729368"/>
                  </a:ext>
                </a:extLst>
              </a:tr>
              <a:tr h="326404">
                <a:tc>
                  <a:txBody>
                    <a:bodyPr/>
                    <a:lstStyle/>
                    <a:p>
                      <a:r>
                        <a:rPr lang="en-US" sz="1400"/>
                        <a:t>Parameters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66 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7659876"/>
                  </a:ext>
                </a:extLst>
              </a:tr>
              <a:tr h="326404">
                <a:tc>
                  <a:txBody>
                    <a:bodyPr/>
                    <a:lstStyle/>
                    <a:p>
                      <a:r>
                        <a:rPr lang="en-US" sz="1400"/>
                        <a:t>Vocabulary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30,522 </a:t>
                      </a:r>
                      <a:r>
                        <a:rPr lang="en-US" sz="1400" dirty="0" err="1"/>
                        <a:t>WordPiece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9853278"/>
                  </a:ext>
                </a:extLst>
              </a:tr>
              <a:tr h="326404">
                <a:tc>
                  <a:txBody>
                    <a:bodyPr/>
                    <a:lstStyle/>
                    <a:p>
                      <a:r>
                        <a:rPr lang="en-US" sz="1400"/>
                        <a:t>Max length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128 tokens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013109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632309" y="3551776"/>
            <a:ext cx="626127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Space Grotesk" panose="020B0600000101010101" charset="0"/>
                <a:cs typeface="Space Grotesk" panose="020B0600000101010101" charset="0"/>
              </a:rPr>
              <a:t>Key points:</a:t>
            </a:r>
            <a:endParaRPr lang="en-US" sz="1200" dirty="0">
              <a:solidFill>
                <a:srgbClr val="002060"/>
              </a:solidFill>
              <a:latin typeface="Space Grotesk" panose="020B0600000101010101" charset="0"/>
              <a:cs typeface="Space Grotesk" panose="020B0600000101010101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002060"/>
                </a:solidFill>
                <a:latin typeface="Space Grotesk" panose="020B0600000101010101" charset="0"/>
                <a:cs typeface="Space Grotesk" panose="020B0600000101010101" charset="0"/>
              </a:rPr>
              <a:t>Why </a:t>
            </a:r>
            <a:r>
              <a:rPr lang="en-US" sz="1200" b="1" dirty="0" err="1">
                <a:solidFill>
                  <a:srgbClr val="002060"/>
                </a:solidFill>
                <a:latin typeface="Space Grotesk" panose="020B0600000101010101" charset="0"/>
                <a:cs typeface="Space Grotesk" panose="020B0600000101010101" charset="0"/>
              </a:rPr>
              <a:t>DistilBERT</a:t>
            </a:r>
            <a:r>
              <a:rPr lang="en-US" sz="1200" b="1" dirty="0">
                <a:solidFill>
                  <a:srgbClr val="002060"/>
                </a:solidFill>
                <a:latin typeface="Space Grotesk" panose="020B0600000101010101" charset="0"/>
                <a:cs typeface="Space Grotesk" panose="020B0600000101010101" charset="0"/>
              </a:rPr>
              <a:t>:</a:t>
            </a:r>
            <a:r>
              <a:rPr lang="en-US" sz="1200" dirty="0">
                <a:solidFill>
                  <a:srgbClr val="002060"/>
                </a:solidFill>
                <a:latin typeface="Space Grotesk" panose="020B0600000101010101" charset="0"/>
                <a:cs typeface="Space Grotesk" panose="020B0600000101010101" charset="0"/>
              </a:rPr>
              <a:t> 40% smaller and about 60% faster than BERT, and keeps about 97% of its language understanding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 err="1">
                <a:solidFill>
                  <a:srgbClr val="002060"/>
                </a:solidFill>
                <a:latin typeface="Space Grotesk" panose="020B0600000101010101" charset="0"/>
                <a:cs typeface="Space Grotesk" panose="020B0600000101010101" charset="0"/>
              </a:rPr>
              <a:t>Subword</a:t>
            </a:r>
            <a:r>
              <a:rPr lang="en-US" sz="1200" b="1" dirty="0">
                <a:solidFill>
                  <a:srgbClr val="002060"/>
                </a:solidFill>
                <a:latin typeface="Space Grotesk" panose="020B0600000101010101" charset="0"/>
                <a:cs typeface="Space Grotesk" panose="020B0600000101010101" charset="0"/>
              </a:rPr>
              <a:t> tokens:</a:t>
            </a:r>
            <a:r>
              <a:rPr lang="en-US" sz="1200" dirty="0">
                <a:solidFill>
                  <a:srgbClr val="002060"/>
                </a:solidFill>
                <a:latin typeface="Space Grotesk" panose="020B0600000101010101" charset="0"/>
                <a:cs typeface="Space Grotesk" panose="020B0600000101010101" charset="0"/>
              </a:rPr>
              <a:t> “FR33” is split into pieces instead of becoming unknown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002060"/>
                </a:solidFill>
                <a:latin typeface="Space Grotesk" panose="020B0600000101010101" charset="0"/>
                <a:cs typeface="Space Grotesk" panose="020B0600000101010101" charset="0"/>
              </a:rPr>
              <a:t>Self-attention:</a:t>
            </a:r>
            <a:r>
              <a:rPr lang="en-US" sz="1200" dirty="0">
                <a:solidFill>
                  <a:srgbClr val="002060"/>
                </a:solidFill>
                <a:latin typeface="Space Grotesk" panose="020B0600000101010101" charset="0"/>
                <a:cs typeface="Space Grotesk" panose="020B0600000101010101" charset="0"/>
              </a:rPr>
              <a:t> every token is weighed against every other, so “free” in “feel free to ask” ≠ “free prize”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002060"/>
                </a:solidFill>
                <a:latin typeface="Space Grotesk" panose="020B0600000101010101" charset="0"/>
                <a:cs typeface="Space Grotesk" panose="020B0600000101010101" charset="0"/>
              </a:rPr>
              <a:t>Head:</a:t>
            </a:r>
            <a:r>
              <a:rPr lang="en-US" sz="1200" dirty="0">
                <a:solidFill>
                  <a:srgbClr val="002060"/>
                </a:solidFill>
                <a:latin typeface="Space Grotesk" panose="020B0600000101010101" charset="0"/>
                <a:cs typeface="Space Grotesk" panose="020B0600000101010101" charset="0"/>
              </a:rPr>
              <a:t> [CLS] representation → 2 logits → </a:t>
            </a:r>
            <a:r>
              <a:rPr lang="en-US" sz="1200" dirty="0" err="1">
                <a:solidFill>
                  <a:srgbClr val="002060"/>
                </a:solidFill>
                <a:latin typeface="Space Grotesk" panose="020B0600000101010101" charset="0"/>
                <a:cs typeface="Space Grotesk" panose="020B0600000101010101" charset="0"/>
              </a:rPr>
              <a:t>softmax</a:t>
            </a:r>
            <a:r>
              <a:rPr lang="en-US" sz="1200" dirty="0">
                <a:solidFill>
                  <a:srgbClr val="002060"/>
                </a:solidFill>
                <a:latin typeface="Space Grotesk" panose="020B0600000101010101" charset="0"/>
                <a:cs typeface="Space Grotesk" panose="020B0600000101010101" charset="0"/>
              </a:rPr>
              <a:t> → [P(ham), P(spam)]</a:t>
            </a:r>
          </a:p>
        </p:txBody>
      </p:sp>
    </p:spTree>
    <p:extLst>
      <p:ext uri="{BB962C8B-B14F-4D97-AF65-F5344CB8AC3E}">
        <p14:creationId xmlns:p14="http://schemas.microsoft.com/office/powerpoint/2010/main" val="1339729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5" name="Google Shape;405;p38"/>
          <p:cNvGrpSpPr/>
          <p:nvPr/>
        </p:nvGrpSpPr>
        <p:grpSpPr>
          <a:xfrm rot="4659980" flipH="1">
            <a:off x="3840892" y="3123036"/>
            <a:ext cx="4573980" cy="3479278"/>
            <a:chOff x="1522650" y="1117750"/>
            <a:chExt cx="4574075" cy="3479350"/>
          </a:xfrm>
        </p:grpSpPr>
        <p:sp>
          <p:nvSpPr>
            <p:cNvPr id="406" name="Google Shape;406;p38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38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9" name="Google Shape;409;p38"/>
          <p:cNvSpPr txBox="1">
            <a:spLocks noGrp="1"/>
          </p:cNvSpPr>
          <p:nvPr>
            <p:ph type="title"/>
          </p:nvPr>
        </p:nvSpPr>
        <p:spPr>
          <a:xfrm>
            <a:off x="1795005" y="2256873"/>
            <a:ext cx="5941300" cy="667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>
                <a:solidFill>
                  <a:srgbClr val="00B0F0"/>
                </a:solidFill>
              </a:rPr>
              <a:t>Baseline </a:t>
            </a:r>
            <a:r>
              <a:rPr lang="en-US" dirty="0" smtClean="0">
                <a:solidFill>
                  <a:srgbClr val="00B0F0"/>
                </a:solidFill>
              </a:rPr>
              <a:t>Models</a:t>
            </a:r>
            <a:r>
              <a:rPr lang="en-US" dirty="0" smtClean="0"/>
              <a:t>– </a:t>
            </a:r>
            <a:r>
              <a:rPr lang="en-US" dirty="0"/>
              <a:t>Coding and Implementation</a:t>
            </a:r>
            <a:endParaRPr dirty="0"/>
          </a:p>
        </p:txBody>
      </p:sp>
      <p:sp>
        <p:nvSpPr>
          <p:cNvPr id="410" name="Google Shape;410;p38"/>
          <p:cNvSpPr txBox="1">
            <a:spLocks noGrp="1"/>
          </p:cNvSpPr>
          <p:nvPr>
            <p:ph type="title" idx="2"/>
          </p:nvPr>
        </p:nvSpPr>
        <p:spPr>
          <a:xfrm>
            <a:off x="803532" y="2134293"/>
            <a:ext cx="868857" cy="87491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07</a:t>
            </a:r>
            <a:endParaRPr dirty="0"/>
          </a:p>
        </p:txBody>
      </p:sp>
      <p:pic>
        <p:nvPicPr>
          <p:cNvPr id="414" name="Google Shape;41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 flipH="1">
            <a:off x="5738810" y="0"/>
            <a:ext cx="3405191" cy="514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25603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Baseline Models</a:t>
            </a:r>
            <a:endParaRPr dirty="0"/>
          </a:p>
        </p:txBody>
      </p:sp>
      <p:sp>
        <p:nvSpPr>
          <p:cNvPr id="430" name="Google Shape;430;p40"/>
          <p:cNvSpPr txBox="1">
            <a:spLocks noGrp="1"/>
          </p:cNvSpPr>
          <p:nvPr>
            <p:ph type="title" idx="4294967295"/>
          </p:nvPr>
        </p:nvSpPr>
        <p:spPr>
          <a:xfrm>
            <a:off x="5482754" y="1041064"/>
            <a:ext cx="1673100" cy="46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 smtClean="0"/>
              <a:t>Environment</a:t>
            </a:r>
            <a:endParaRPr sz="1800" dirty="0"/>
          </a:p>
        </p:txBody>
      </p:sp>
      <p:sp>
        <p:nvSpPr>
          <p:cNvPr id="431" name="Google Shape;431;p40"/>
          <p:cNvSpPr txBox="1">
            <a:spLocks noGrp="1"/>
          </p:cNvSpPr>
          <p:nvPr>
            <p:ph type="subTitle" idx="4294967295"/>
          </p:nvPr>
        </p:nvSpPr>
        <p:spPr>
          <a:xfrm>
            <a:off x="5139704" y="1529304"/>
            <a:ext cx="2359200" cy="168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Google </a:t>
            </a:r>
            <a:r>
              <a:rPr lang="en-US" dirty="0" err="1"/>
              <a:t>Colab</a:t>
            </a:r>
            <a:r>
              <a:rPr lang="en-US" dirty="0"/>
              <a:t>, NVIDIA Tesla T4 (16 GB), 12 GB RAM</a:t>
            </a:r>
          </a:p>
          <a:p>
            <a:r>
              <a:rPr lang="en-US" dirty="0"/>
              <a:t>Python 3.8.10 · </a:t>
            </a:r>
            <a:r>
              <a:rPr lang="en-US" dirty="0" err="1"/>
              <a:t>PyTorch</a:t>
            </a:r>
            <a:r>
              <a:rPr lang="en-US" dirty="0"/>
              <a:t> 2.0.1 · </a:t>
            </a:r>
            <a:r>
              <a:rPr lang="en-US" dirty="0" err="1"/>
              <a:t>scikit</a:t>
            </a:r>
            <a:r>
              <a:rPr lang="en-US" dirty="0"/>
              <a:t>-learn 1.2.2 · Transformers 4.30.2</a:t>
            </a:r>
          </a:p>
          <a:p>
            <a:r>
              <a:rPr lang="en-US" dirty="0"/>
              <a:t>All random seeds = 42</a:t>
            </a:r>
          </a:p>
        </p:txBody>
      </p:sp>
      <p:sp>
        <p:nvSpPr>
          <p:cNvPr id="433" name="Google Shape;433;p40"/>
          <p:cNvSpPr txBox="1"/>
          <p:nvPr/>
        </p:nvSpPr>
        <p:spPr>
          <a:xfrm>
            <a:off x="720000" y="3617801"/>
            <a:ext cx="4419704" cy="605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1000" dirty="0"/>
              <a:t>The same cleaned text feeds both baselines. TF-IDF and Logistic Regression are fit on the training set only.</a:t>
            </a:r>
            <a:endParaRPr sz="1000" b="1" u="sng" dirty="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" y="1143779"/>
            <a:ext cx="4419704" cy="23479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9"/>
          <p:cNvSpPr txBox="1">
            <a:spLocks noGrp="1"/>
          </p:cNvSpPr>
          <p:nvPr>
            <p:ph type="title"/>
          </p:nvPr>
        </p:nvSpPr>
        <p:spPr>
          <a:xfrm>
            <a:off x="3405201" y="2296400"/>
            <a:ext cx="1217545" cy="108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08 </a:t>
            </a:r>
            <a:endParaRPr dirty="0"/>
          </a:p>
        </p:txBody>
      </p:sp>
      <p:pic>
        <p:nvPicPr>
          <p:cNvPr id="421" name="Google Shape;42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0" y="0"/>
            <a:ext cx="340519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2" name="Google Shape;422;p39"/>
          <p:cNvGrpSpPr/>
          <p:nvPr/>
        </p:nvGrpSpPr>
        <p:grpSpPr>
          <a:xfrm flipH="1">
            <a:off x="4821451" y="-1610442"/>
            <a:ext cx="4574075" cy="3479350"/>
            <a:chOff x="1522650" y="1117750"/>
            <a:chExt cx="4574075" cy="3479350"/>
          </a:xfrm>
        </p:grpSpPr>
        <p:sp>
          <p:nvSpPr>
            <p:cNvPr id="423" name="Google Shape;423;p39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9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" name="Google Shape;293;p33"/>
          <p:cNvSpPr txBox="1">
            <a:spLocks noGrp="1"/>
          </p:cNvSpPr>
          <p:nvPr/>
        </p:nvSpPr>
        <p:spPr>
          <a:xfrm>
            <a:off x="4622745" y="2025650"/>
            <a:ext cx="4100149" cy="16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4800" b="0" i="0" u="none" strike="noStrike" cap="none" spc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 spc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 spc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 spc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 spc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 spc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 spc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 spc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pace Grotesk"/>
              <a:buNone/>
              <a:defRPr sz="3600" b="1" i="0" u="none" strike="noStrike" cap="none" spc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lvl="0"/>
            <a:r>
              <a:rPr lang="en-US" sz="4000" dirty="0" err="1" smtClean="0"/>
              <a:t>DistilBERT</a:t>
            </a:r>
            <a:r>
              <a:rPr lang="en-US" sz="4000" dirty="0"/>
              <a:t> </a:t>
            </a:r>
            <a:r>
              <a:rPr lang="en-US" sz="4000" dirty="0" smtClean="0"/>
              <a:t>Implementation</a:t>
            </a:r>
            <a:endParaRPr sz="40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1950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DistilBERT </a:t>
            </a:r>
            <a:r>
              <a:rPr lang="en" dirty="0" smtClean="0">
                <a:solidFill>
                  <a:srgbClr val="00B0F0"/>
                </a:solidFill>
              </a:rPr>
              <a:t>Implementation</a:t>
            </a:r>
            <a:endParaRPr dirty="0">
              <a:solidFill>
                <a:srgbClr val="00B0F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" y="1017725"/>
            <a:ext cx="3431128" cy="3145201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4297168" y="1017725"/>
            <a:ext cx="457200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pace Grotesk" panose="020B0600000101010101" charset="0"/>
                <a:cs typeface="Space Grotesk" panose="020B0600000101010101" charset="0"/>
              </a:rPr>
              <a:t>Chips: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Space Grotesk" panose="020B0600000101010101" charset="0"/>
              <a:cs typeface="Space Grotesk" panose="020B0600000101010101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pace Grotesk" panose="020B0600000101010101" charset="0"/>
                <a:cs typeface="Space Grotesk" panose="020B0600000101010101" charset="0"/>
              </a:rPr>
              <a:t>Model: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pace Grotesk" panose="020B0600000101010101" charset="0"/>
                <a:cs typeface="Space Grotesk" panose="020B0600000101010101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pace Grotesk" panose="020B0600000101010101" charset="0"/>
                <a:cs typeface="Space Grotesk" panose="020B0600000101010101" charset="0"/>
              </a:rPr>
              <a:t>distilbert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pace Grotesk" panose="020B0600000101010101" charset="0"/>
                <a:cs typeface="Space Grotesk" panose="020B0600000101010101" charset="0"/>
              </a:rPr>
              <a:t>-base-uncased via Hugging Face Trainer (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pace Grotesk" panose="020B0600000101010101" charset="0"/>
                <a:cs typeface="Space Grotesk" panose="020B0600000101010101" charset="0"/>
              </a:rPr>
              <a:t>AdamW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pace Grotesk" panose="020B0600000101010101" charset="0"/>
                <a:cs typeface="Space Grotesk" panose="020B0600000101010101" charset="0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pace Grotesk" panose="020B0600000101010101" charset="0"/>
                <a:cs typeface="Space Grotesk" panose="020B0600000101010101" charset="0"/>
              </a:rPr>
              <a:t>Training time: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pace Grotesk" panose="020B0600000101010101" charset="0"/>
                <a:cs typeface="Space Grotesk" panose="020B0600000101010101" charset="0"/>
              </a:rPr>
              <a:t> about 2.5 min on a T4 GPU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pace Grotesk" panose="020B0600000101010101" charset="0"/>
                <a:cs typeface="Space Grotesk" panose="020B0600000101010101" charset="0"/>
              </a:rPr>
              <a:t>Short schedule: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pace Grotesk" panose="020B0600000101010101" charset="0"/>
                <a:cs typeface="Space Grotesk" panose="020B0600000101010101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pace Grotesk" panose="020B0600000101010101" charset="0"/>
                <a:cs typeface="Space Grotesk" panose="020B0600000101010101" charset="0"/>
              </a:rPr>
              <a:t>pretrained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pace Grotesk" panose="020B0600000101010101" charset="0"/>
                <a:cs typeface="Space Grotesk" panose="020B0600000101010101" charset="0"/>
              </a:rPr>
              <a:t> weights already know the language, and a long run risks overfitting on 3,900 messages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Space Grotesk" panose="020B0600000101010101" charset="0"/>
              <a:cs typeface="Space Grotesk" panose="020B0600000101010101" charset="0"/>
            </a:endParaRPr>
          </a:p>
        </p:txBody>
      </p:sp>
      <p:pic>
        <p:nvPicPr>
          <p:cNvPr id="6" name="loss.png" descr="loss.png" title="loss.png"/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297168" y="2655488"/>
            <a:ext cx="3415030" cy="200342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297168" y="4658913"/>
            <a:ext cx="4572000" cy="43088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100" dirty="0">
                <a:latin typeface="Space Grotesk" panose="020B0600000101010101" charset="0"/>
                <a:cs typeface="Space Grotesk" panose="020B0600000101010101" charset="0"/>
              </a:rPr>
              <a:t>Training loss fell from 0.2598 (step 50) to 0.0480 (step 100) and reached 0.0161 at step 700: stable convergence.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5" name="Google Shape;405;p38"/>
          <p:cNvGrpSpPr/>
          <p:nvPr/>
        </p:nvGrpSpPr>
        <p:grpSpPr>
          <a:xfrm rot="4659980" flipH="1">
            <a:off x="3840892" y="3123036"/>
            <a:ext cx="4573980" cy="3479278"/>
            <a:chOff x="1522650" y="1117750"/>
            <a:chExt cx="4574075" cy="3479350"/>
          </a:xfrm>
        </p:grpSpPr>
        <p:sp>
          <p:nvSpPr>
            <p:cNvPr id="406" name="Google Shape;406;p38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38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9" name="Google Shape;409;p38"/>
          <p:cNvSpPr txBox="1">
            <a:spLocks noGrp="1"/>
          </p:cNvSpPr>
          <p:nvPr>
            <p:ph type="title"/>
          </p:nvPr>
        </p:nvSpPr>
        <p:spPr>
          <a:xfrm>
            <a:off x="1795005" y="2256873"/>
            <a:ext cx="4052342" cy="667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Model </a:t>
            </a:r>
            <a:r>
              <a:rPr lang="en-US" dirty="0">
                <a:solidFill>
                  <a:srgbClr val="00B0F0"/>
                </a:solidFill>
              </a:rPr>
              <a:t>Comparison</a:t>
            </a:r>
            <a:endParaRPr dirty="0">
              <a:solidFill>
                <a:srgbClr val="00B0F0"/>
              </a:solidFill>
            </a:endParaRPr>
          </a:p>
        </p:txBody>
      </p:sp>
      <p:sp>
        <p:nvSpPr>
          <p:cNvPr id="410" name="Google Shape;410;p38"/>
          <p:cNvSpPr txBox="1">
            <a:spLocks noGrp="1"/>
          </p:cNvSpPr>
          <p:nvPr>
            <p:ph type="title" idx="2"/>
          </p:nvPr>
        </p:nvSpPr>
        <p:spPr>
          <a:xfrm>
            <a:off x="803532" y="2134293"/>
            <a:ext cx="868857" cy="87491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09</a:t>
            </a:r>
            <a:endParaRPr dirty="0"/>
          </a:p>
        </p:txBody>
      </p:sp>
      <p:pic>
        <p:nvPicPr>
          <p:cNvPr id="414" name="Google Shape;41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 flipH="1">
            <a:off x="5738810" y="0"/>
            <a:ext cx="3405191" cy="514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0375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2"/>
          <p:cNvSpPr txBox="1">
            <a:spLocks noGrp="1"/>
          </p:cNvSpPr>
          <p:nvPr>
            <p:ph type="title"/>
          </p:nvPr>
        </p:nvSpPr>
        <p:spPr>
          <a:xfrm>
            <a:off x="748932" y="269281"/>
            <a:ext cx="5230763" cy="6451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Results and Discussion</a:t>
            </a:r>
            <a:endParaRPr dirty="0"/>
          </a:p>
        </p:txBody>
      </p:sp>
      <p:sp>
        <p:nvSpPr>
          <p:cNvPr id="445" name="Google Shape;445;p42"/>
          <p:cNvSpPr txBox="1">
            <a:spLocks noGrp="1"/>
          </p:cNvSpPr>
          <p:nvPr>
            <p:ph type="subTitle" idx="1"/>
          </p:nvPr>
        </p:nvSpPr>
        <p:spPr>
          <a:xfrm>
            <a:off x="7149732" y="-1742219"/>
            <a:ext cx="4185300" cy="201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/>
              <a:t>Product/website description: A brief overview of the product/website, including its key features, dimensions, and materials used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/>
              <a:t>Features and benefits: A detailed explanation of the product's/website's features and how they will benefit the user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/>
              <a:t>Technical specifications: A list of the product's/website's technical specifications, such as dimensions, weight, power requirements, connectivity options and hosting platform</a:t>
            </a:r>
            <a:endParaRPr/>
          </a:p>
        </p:txBody>
      </p:sp>
      <p:pic>
        <p:nvPicPr>
          <p:cNvPr id="10" name="metrics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57356" y="2678260"/>
            <a:ext cx="3810000" cy="2113915"/>
          </a:xfrm>
          <a:prstGeom prst="rect">
            <a:avLst/>
          </a:prstGeom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9084917"/>
              </p:ext>
            </p:extLst>
          </p:nvPr>
        </p:nvGraphicFramePr>
        <p:xfrm>
          <a:off x="748932" y="973370"/>
          <a:ext cx="7718424" cy="14630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286404">
                  <a:extLst>
                    <a:ext uri="{9D8B030D-6E8A-4147-A177-3AD203B41FA5}">
                      <a16:colId xmlns:a16="http://schemas.microsoft.com/office/drawing/2014/main" val="2084001290"/>
                    </a:ext>
                  </a:extLst>
                </a:gridCol>
                <a:gridCol w="1286404">
                  <a:extLst>
                    <a:ext uri="{9D8B030D-6E8A-4147-A177-3AD203B41FA5}">
                      <a16:colId xmlns:a16="http://schemas.microsoft.com/office/drawing/2014/main" val="2634194689"/>
                    </a:ext>
                  </a:extLst>
                </a:gridCol>
                <a:gridCol w="1286404">
                  <a:extLst>
                    <a:ext uri="{9D8B030D-6E8A-4147-A177-3AD203B41FA5}">
                      <a16:colId xmlns:a16="http://schemas.microsoft.com/office/drawing/2014/main" val="2921926943"/>
                    </a:ext>
                  </a:extLst>
                </a:gridCol>
                <a:gridCol w="1286404">
                  <a:extLst>
                    <a:ext uri="{9D8B030D-6E8A-4147-A177-3AD203B41FA5}">
                      <a16:colId xmlns:a16="http://schemas.microsoft.com/office/drawing/2014/main" val="1410387763"/>
                    </a:ext>
                  </a:extLst>
                </a:gridCol>
                <a:gridCol w="1286404">
                  <a:extLst>
                    <a:ext uri="{9D8B030D-6E8A-4147-A177-3AD203B41FA5}">
                      <a16:colId xmlns:a16="http://schemas.microsoft.com/office/drawing/2014/main" val="2705115001"/>
                    </a:ext>
                  </a:extLst>
                </a:gridCol>
                <a:gridCol w="1286404">
                  <a:extLst>
                    <a:ext uri="{9D8B030D-6E8A-4147-A177-3AD203B41FA5}">
                      <a16:colId xmlns:a16="http://schemas.microsoft.com/office/drawing/2014/main" val="2983928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200" b="1">
                          <a:latin typeface="Space Grotesk" panose="020B0600000101010101" charset="0"/>
                          <a:cs typeface="Space Grotesk" panose="020B0600000101010101" charset="0"/>
                        </a:rPr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latin typeface="Space Grotesk" panose="020B0600000101010101" charset="0"/>
                          <a:cs typeface="Space Grotesk" panose="020B0600000101010101" charset="0"/>
                        </a:rPr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latin typeface="Space Grotesk" panose="020B0600000101010101" charset="0"/>
                          <a:cs typeface="Space Grotesk" panose="020B0600000101010101" charset="0"/>
                        </a:rPr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latin typeface="Space Grotesk" panose="020B0600000101010101" charset="0"/>
                          <a:cs typeface="Space Grotesk" panose="020B0600000101010101" charset="0"/>
                        </a:rPr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latin typeface="Space Grotesk" panose="020B0600000101010101" charset="0"/>
                          <a:cs typeface="Space Grotesk" panose="020B0600000101010101" charset="0"/>
                        </a:rPr>
                        <a:t>F1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Space Grotesk" panose="020B0600000101010101" charset="0"/>
                          <a:cs typeface="Space Grotesk" panose="020B0600000101010101" charset="0"/>
                        </a:rPr>
                        <a:t>ROC-AUC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22346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1">
                          <a:latin typeface="Space Grotesk" panose="020B0600000101010101" charset="0"/>
                          <a:cs typeface="Space Grotesk" panose="020B0600000101010101" charset="0"/>
                        </a:rPr>
                        <a:t>TF-IDF + LogReg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Space Grotesk" panose="020B0600000101010101" charset="0"/>
                          <a:cs typeface="Space Grotesk" panose="020B0600000101010101" charset="0"/>
                        </a:rPr>
                        <a:t>97.37%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Space Grotesk" panose="020B0600000101010101" charset="0"/>
                          <a:cs typeface="Space Grotesk" panose="020B0600000101010101" charset="0"/>
                        </a:rPr>
                        <a:t>95.92%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Space Grotesk" panose="020B0600000101010101" charset="0"/>
                          <a:cs typeface="Space Grotesk" panose="020B0600000101010101" charset="0"/>
                        </a:rPr>
                        <a:t>83.93%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Space Grotesk" panose="020B0600000101010101" charset="0"/>
                          <a:cs typeface="Space Grotesk" panose="020B0600000101010101" charset="0"/>
                        </a:rPr>
                        <a:t>89.52%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Space Grotesk" panose="020B0600000101010101" charset="0"/>
                          <a:cs typeface="Space Grotesk" panose="020B0600000101010101" charset="0"/>
                        </a:rPr>
                        <a:t>0.9896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01799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1">
                          <a:latin typeface="Space Grotesk" panose="020B0600000101010101" charset="0"/>
                          <a:cs typeface="Space Grotesk" panose="020B0600000101010101" charset="0"/>
                        </a:rPr>
                        <a:t>Embedding + BiLSTM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Space Grotesk" panose="020B0600000101010101" charset="0"/>
                          <a:cs typeface="Space Grotesk" panose="020B0600000101010101" charset="0"/>
                        </a:rPr>
                        <a:t>97.73%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Space Grotesk" panose="020B0600000101010101" charset="0"/>
                          <a:cs typeface="Space Grotesk" panose="020B0600000101010101" charset="0"/>
                        </a:rPr>
                        <a:t>96.97%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Space Grotesk" panose="020B0600000101010101" charset="0"/>
                          <a:cs typeface="Space Grotesk" panose="020B0600000101010101" charset="0"/>
                        </a:rPr>
                        <a:t>85.71%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Space Grotesk" panose="020B0600000101010101" charset="0"/>
                          <a:cs typeface="Space Grotesk" panose="020B0600000101010101" charset="0"/>
                        </a:rPr>
                        <a:t>91.00%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Space Grotesk" panose="020B0600000101010101" charset="0"/>
                          <a:cs typeface="Space Grotesk" panose="020B0600000101010101" charset="0"/>
                        </a:rPr>
                        <a:t>0.9858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39343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1" dirty="0" err="1">
                          <a:latin typeface="Space Grotesk" panose="020B0600000101010101" charset="0"/>
                          <a:cs typeface="Space Grotesk" panose="020B0600000101010101" charset="0"/>
                        </a:rPr>
                        <a:t>DistilBERT</a:t>
                      </a:r>
                      <a:endParaRPr lang="en-US" sz="1200" b="1" dirty="0">
                        <a:latin typeface="Space Grotesk" panose="020B0600000101010101" charset="0"/>
                        <a:cs typeface="Space Grotesk" panose="020B0600000101010101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Space Grotesk" panose="020B0600000101010101" charset="0"/>
                          <a:cs typeface="Space Grotesk" panose="020B0600000101010101" charset="0"/>
                        </a:rPr>
                        <a:t>99.28%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Space Grotesk" panose="020B0600000101010101" charset="0"/>
                          <a:cs typeface="Space Grotesk" panose="020B0600000101010101" charset="0"/>
                        </a:rPr>
                        <a:t>97.32%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Space Grotesk" panose="020B0600000101010101" charset="0"/>
                          <a:cs typeface="Space Grotesk" panose="020B0600000101010101" charset="0"/>
                        </a:rPr>
                        <a:t>97.32%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Space Grotesk" panose="020B0600000101010101" charset="0"/>
                          <a:cs typeface="Space Grotesk" panose="020B0600000101010101" charset="0"/>
                        </a:rPr>
                        <a:t>97.32%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Space Grotesk" panose="020B0600000101010101" charset="0"/>
                          <a:cs typeface="Space Grotesk" panose="020B0600000101010101" charset="0"/>
                        </a:rPr>
                        <a:t>0.9990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4073948"/>
                  </a:ext>
                </a:extLst>
              </a:tr>
            </a:tbl>
          </a:graphicData>
        </a:graphic>
      </p:graphicFrame>
      <p:sp>
        <p:nvSpPr>
          <p:cNvPr id="3" name="Rounded Rectangle 2"/>
          <p:cNvSpPr/>
          <p:nvPr/>
        </p:nvSpPr>
        <p:spPr>
          <a:xfrm>
            <a:off x="748932" y="2678260"/>
            <a:ext cx="1857645" cy="1857645"/>
          </a:xfrm>
          <a:prstGeom prst="roundRect">
            <a:avLst>
              <a:gd name="adj" fmla="val 6952"/>
            </a:avLst>
          </a:prstGeom>
          <a:solidFill>
            <a:schemeClr val="accent2">
              <a:lumMod val="75000"/>
              <a:alpha val="40000"/>
            </a:schemeClr>
          </a:solidFill>
          <a:ln>
            <a:noFill/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 extrusionH="57150">
              <a:bevelT w="38100" h="38100" prst="relaxedInset"/>
            </a:sp3d>
          </a:bodyPr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833289" y="2914584"/>
            <a:ext cx="177328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Space Grotesk" panose="020B0600000101010101" charset="0"/>
                <a:cs typeface="Space Grotesk" panose="020B0600000101010101" charset="0"/>
              </a:rPr>
              <a:t>The biggest gap is </a:t>
            </a:r>
            <a:r>
              <a:rPr lang="en-US" sz="1200" b="1" dirty="0">
                <a:solidFill>
                  <a:schemeClr val="bg1"/>
                </a:solidFill>
                <a:latin typeface="Space Grotesk" panose="020B0600000101010101" charset="0"/>
                <a:cs typeface="Space Grotesk" panose="020B0600000101010101" charset="0"/>
              </a:rPr>
              <a:t>recall</a:t>
            </a:r>
            <a:r>
              <a:rPr lang="en-US" sz="1200" dirty="0">
                <a:solidFill>
                  <a:schemeClr val="bg1"/>
                </a:solidFill>
                <a:latin typeface="Space Grotesk" panose="020B0600000101010101" charset="0"/>
                <a:cs typeface="Space Grotesk" panose="020B0600000101010101" charset="0"/>
              </a:rPr>
              <a:t>. </a:t>
            </a:r>
            <a:r>
              <a:rPr lang="en-US" sz="1200" dirty="0" err="1">
                <a:solidFill>
                  <a:schemeClr val="bg1"/>
                </a:solidFill>
                <a:latin typeface="Space Grotesk" panose="020B0600000101010101" charset="0"/>
                <a:cs typeface="Space Grotesk" panose="020B0600000101010101" charset="0"/>
              </a:rPr>
              <a:t>DistilBERT</a:t>
            </a:r>
            <a:r>
              <a:rPr lang="en-US" sz="1200" dirty="0">
                <a:solidFill>
                  <a:schemeClr val="bg1"/>
                </a:solidFill>
                <a:latin typeface="Space Grotesk" panose="020B0600000101010101" charset="0"/>
                <a:cs typeface="Space Grotesk" panose="020B0600000101010101" charset="0"/>
              </a:rPr>
              <a:t> detects 109 of 112 spam messages: +11.61 pp over </a:t>
            </a:r>
            <a:r>
              <a:rPr lang="en-US" sz="1200" dirty="0" err="1">
                <a:solidFill>
                  <a:schemeClr val="bg1"/>
                </a:solidFill>
                <a:latin typeface="Space Grotesk" panose="020B0600000101010101" charset="0"/>
                <a:cs typeface="Space Grotesk" panose="020B0600000101010101" charset="0"/>
              </a:rPr>
              <a:t>BiLSTM</a:t>
            </a:r>
            <a:r>
              <a:rPr lang="en-US" sz="1200" dirty="0">
                <a:solidFill>
                  <a:schemeClr val="bg1"/>
                </a:solidFill>
                <a:latin typeface="Space Grotesk" panose="020B0600000101010101" charset="0"/>
                <a:cs typeface="Space Grotesk" panose="020B0600000101010101" charset="0"/>
              </a:rPr>
              <a:t> and +13.39 pp over TF-IDF.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03144" y="2678258"/>
            <a:ext cx="1857645" cy="1857645"/>
          </a:xfrm>
          <a:prstGeom prst="roundRect">
            <a:avLst>
              <a:gd name="adj" fmla="val 6952"/>
            </a:avLst>
          </a:prstGeom>
          <a:solidFill>
            <a:srgbClr val="00B0F0">
              <a:alpha val="40000"/>
            </a:srgbClr>
          </a:solidFill>
          <a:ln>
            <a:noFill/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 extrusionH="57150">
              <a:bevelT w="38100" h="38100" prst="relaxedInset"/>
            </a:sp3d>
          </a:bodyPr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2787501" y="2822250"/>
            <a:ext cx="177328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Spam = positive class, threshold 0.5. In security a missed threat is costlier than a false alarm, so recall is the most critical metric and F1 the primary comparison.</a:t>
            </a:r>
            <a:endParaRPr lang="en-US" sz="1200" dirty="0">
              <a:solidFill>
                <a:schemeClr val="bg1"/>
              </a:solidFill>
              <a:latin typeface="Space Grotesk" panose="020B0600000101010101" charset="0"/>
              <a:cs typeface="Space Grotesk" panose="020B0600000101010101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5" name="Google Shape;405;p38"/>
          <p:cNvGrpSpPr/>
          <p:nvPr/>
        </p:nvGrpSpPr>
        <p:grpSpPr>
          <a:xfrm rot="4659980" flipH="1">
            <a:off x="3840892" y="3123036"/>
            <a:ext cx="4573980" cy="3479278"/>
            <a:chOff x="1522650" y="1117750"/>
            <a:chExt cx="4574075" cy="3479350"/>
          </a:xfrm>
        </p:grpSpPr>
        <p:sp>
          <p:nvSpPr>
            <p:cNvPr id="406" name="Google Shape;406;p38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38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9" name="Google Shape;409;p38"/>
          <p:cNvSpPr txBox="1">
            <a:spLocks noGrp="1"/>
          </p:cNvSpPr>
          <p:nvPr>
            <p:ph type="title"/>
          </p:nvPr>
        </p:nvSpPr>
        <p:spPr>
          <a:xfrm>
            <a:off x="1795005" y="2256873"/>
            <a:ext cx="5941300" cy="667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Error </a:t>
            </a:r>
            <a:r>
              <a:rPr lang="en-US" dirty="0">
                <a:solidFill>
                  <a:srgbClr val="00B0F0"/>
                </a:solidFill>
              </a:rPr>
              <a:t>Analysis</a:t>
            </a:r>
            <a:endParaRPr dirty="0">
              <a:solidFill>
                <a:srgbClr val="00B0F0"/>
              </a:solidFill>
            </a:endParaRPr>
          </a:p>
        </p:txBody>
      </p:sp>
      <p:sp>
        <p:nvSpPr>
          <p:cNvPr id="410" name="Google Shape;410;p38"/>
          <p:cNvSpPr txBox="1">
            <a:spLocks noGrp="1"/>
          </p:cNvSpPr>
          <p:nvPr>
            <p:ph type="title" idx="2"/>
          </p:nvPr>
        </p:nvSpPr>
        <p:spPr>
          <a:xfrm>
            <a:off x="803532" y="2134293"/>
            <a:ext cx="868857" cy="87491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10</a:t>
            </a:r>
            <a:endParaRPr dirty="0"/>
          </a:p>
        </p:txBody>
      </p:sp>
      <p:pic>
        <p:nvPicPr>
          <p:cNvPr id="414" name="Google Shape;41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 flipH="1">
            <a:off x="5738810" y="0"/>
            <a:ext cx="3405191" cy="514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21548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Error </a:t>
            </a:r>
            <a:r>
              <a:rPr lang="en" dirty="0" smtClean="0">
                <a:solidFill>
                  <a:srgbClr val="00B0F0"/>
                </a:solidFill>
              </a:rPr>
              <a:t>Analysis</a:t>
            </a:r>
            <a:endParaRPr dirty="0">
              <a:solidFill>
                <a:srgbClr val="00B0F0"/>
              </a:solidFill>
            </a:endParaRPr>
          </a:p>
        </p:txBody>
      </p:sp>
      <p:pic>
        <p:nvPicPr>
          <p:cNvPr id="34" name="cm.pn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03481" y="3141992"/>
            <a:ext cx="5655945" cy="1534160"/>
          </a:xfrm>
          <a:prstGeom prst="rect">
            <a:avLst/>
          </a:prstGeom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6085763"/>
              </p:ext>
            </p:extLst>
          </p:nvPr>
        </p:nvGraphicFramePr>
        <p:xfrm>
          <a:off x="3238908" y="1118410"/>
          <a:ext cx="5185092" cy="1645920"/>
        </p:xfrm>
        <a:graphic>
          <a:graphicData uri="http://schemas.openxmlformats.org/drawingml/2006/table">
            <a:tbl>
              <a:tblPr/>
              <a:tblGrid>
                <a:gridCol w="1296273">
                  <a:extLst>
                    <a:ext uri="{9D8B030D-6E8A-4147-A177-3AD203B41FA5}">
                      <a16:colId xmlns:a16="http://schemas.microsoft.com/office/drawing/2014/main" val="3635841860"/>
                    </a:ext>
                  </a:extLst>
                </a:gridCol>
                <a:gridCol w="1296273">
                  <a:extLst>
                    <a:ext uri="{9D8B030D-6E8A-4147-A177-3AD203B41FA5}">
                      <a16:colId xmlns:a16="http://schemas.microsoft.com/office/drawing/2014/main" val="35244238"/>
                    </a:ext>
                  </a:extLst>
                </a:gridCol>
                <a:gridCol w="1296273">
                  <a:extLst>
                    <a:ext uri="{9D8B030D-6E8A-4147-A177-3AD203B41FA5}">
                      <a16:colId xmlns:a16="http://schemas.microsoft.com/office/drawing/2014/main" val="546520776"/>
                    </a:ext>
                  </a:extLst>
                </a:gridCol>
                <a:gridCol w="1296273">
                  <a:extLst>
                    <a:ext uri="{9D8B030D-6E8A-4147-A177-3AD203B41FA5}">
                      <a16:colId xmlns:a16="http://schemas.microsoft.com/office/drawing/2014/main" val="1123522515"/>
                    </a:ext>
                  </a:extLst>
                </a:gridCol>
              </a:tblGrid>
              <a:tr h="268934">
                <a:tc>
                  <a:txBody>
                    <a:bodyPr/>
                    <a:lstStyle/>
                    <a:p>
                      <a:endParaRPr lang="en-US" sz="1200">
                        <a:latin typeface="Space Grotesk" panose="020B0600000101010101" charset="0"/>
                        <a:cs typeface="Space Grotesk" panose="020B0600000101010101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latin typeface="Space Grotesk" panose="020B0600000101010101" charset="0"/>
                          <a:cs typeface="Space Grotesk" panose="020B0600000101010101" charset="0"/>
                        </a:rPr>
                        <a:t>TF-IDF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latin typeface="Space Grotesk" panose="020B0600000101010101" charset="0"/>
                          <a:cs typeface="Space Grotesk" panose="020B0600000101010101" charset="0"/>
                        </a:rPr>
                        <a:t>BiLSTM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 err="1">
                          <a:latin typeface="Space Grotesk" panose="020B0600000101010101" charset="0"/>
                          <a:cs typeface="Space Grotesk" panose="020B0600000101010101" charset="0"/>
                        </a:rPr>
                        <a:t>DistilBERT</a:t>
                      </a:r>
                      <a:endParaRPr lang="en-US" sz="1200" b="1" dirty="0">
                        <a:latin typeface="Space Grotesk" panose="020B0600000101010101" charset="0"/>
                        <a:cs typeface="Space Grotesk" panose="020B0600000101010101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1699318"/>
                  </a:ext>
                </a:extLst>
              </a:tr>
              <a:tr h="457188">
                <a:tc>
                  <a:txBody>
                    <a:bodyPr/>
                    <a:lstStyle/>
                    <a:p>
                      <a:r>
                        <a:rPr lang="en-US" sz="1200" b="1">
                          <a:latin typeface="Space Grotesk" panose="020B0600000101010101" charset="0"/>
                          <a:cs typeface="Space Grotesk" panose="020B0600000101010101" charset="0"/>
                        </a:rPr>
                        <a:t>False negatives (missed spam)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Space Grotesk" panose="020B0600000101010101" charset="0"/>
                          <a:cs typeface="Space Grotesk" panose="020B0600000101010101" charset="0"/>
                        </a:rPr>
                        <a:t>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Space Grotesk" panose="020B0600000101010101" charset="0"/>
                          <a:cs typeface="Space Grotesk" panose="020B0600000101010101" charset="0"/>
                        </a:rPr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latin typeface="Space Grotesk" panose="020B0600000101010101" charset="0"/>
                          <a:cs typeface="Space Grotesk" panose="020B0600000101010101" charset="0"/>
                        </a:rPr>
                        <a:t>3</a:t>
                      </a:r>
                      <a:endParaRPr lang="en-US" sz="1200">
                        <a:latin typeface="Space Grotesk" panose="020B0600000101010101" charset="0"/>
                        <a:cs typeface="Space Grotesk" panose="020B0600000101010101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2755739"/>
                  </a:ext>
                </a:extLst>
              </a:tr>
              <a:tr h="457188">
                <a:tc>
                  <a:txBody>
                    <a:bodyPr/>
                    <a:lstStyle/>
                    <a:p>
                      <a:r>
                        <a:rPr lang="en-US" sz="1200" b="1">
                          <a:latin typeface="Space Grotesk" panose="020B0600000101010101" charset="0"/>
                          <a:cs typeface="Space Grotesk" panose="020B0600000101010101" charset="0"/>
                        </a:rPr>
                        <a:t>False positives (false alarms)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Space Grotesk" panose="020B0600000101010101" charset="0"/>
                          <a:cs typeface="Space Grotesk" panose="020B0600000101010101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Space Grotesk" panose="020B0600000101010101" charset="0"/>
                          <a:cs typeface="Space Grotesk" panose="020B0600000101010101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Space Grotesk" panose="020B0600000101010101" charset="0"/>
                          <a:cs typeface="Space Grotesk" panose="020B0600000101010101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5421463"/>
                  </a:ext>
                </a:extLst>
              </a:tr>
              <a:tr h="268934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Space Grotesk" panose="020B0600000101010101" charset="0"/>
                          <a:cs typeface="Space Grotesk" panose="020B0600000101010101" charset="0"/>
                        </a:rPr>
                        <a:t>True positives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Space Grotesk" panose="020B0600000101010101" charset="0"/>
                          <a:cs typeface="Space Grotesk" panose="020B0600000101010101" charset="0"/>
                        </a:rPr>
                        <a:t>94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Space Grotesk" panose="020B0600000101010101" charset="0"/>
                          <a:cs typeface="Space Grotesk" panose="020B0600000101010101" charset="0"/>
                        </a:rPr>
                        <a:t>96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Space Grotesk" panose="020B0600000101010101" charset="0"/>
                          <a:cs typeface="Space Grotesk" panose="020B0600000101010101" charset="0"/>
                        </a:rPr>
                        <a:t>109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3281871"/>
                  </a:ext>
                </a:extLst>
              </a:tr>
            </a:tbl>
          </a:graphicData>
        </a:graphic>
      </p:graphicFrame>
      <p:sp>
        <p:nvSpPr>
          <p:cNvPr id="3" name="Cube 2"/>
          <p:cNvSpPr/>
          <p:nvPr/>
        </p:nvSpPr>
        <p:spPr>
          <a:xfrm>
            <a:off x="922020" y="1280160"/>
            <a:ext cx="1584960" cy="1417320"/>
          </a:xfrm>
          <a:prstGeom prst="cube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097280" y="1941370"/>
            <a:ext cx="99097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smtClean="0">
                <a:solidFill>
                  <a:schemeClr val="accent4"/>
                </a:solidFill>
                <a:latin typeface="Britannic Bold" panose="020B0903060703020204" pitchFamily="34" charset="0"/>
              </a:rPr>
              <a:t>-83.3%</a:t>
            </a:r>
            <a:endParaRPr lang="en-US" sz="2000" dirty="0">
              <a:solidFill>
                <a:schemeClr val="accent4"/>
              </a:solidFill>
              <a:latin typeface="Britannic Bold" panose="020B0903060703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 rot="19897803">
            <a:off x="1085683" y="1201021"/>
            <a:ext cx="1289135" cy="523220"/>
          </a:xfrm>
          <a:prstGeom prst="rect">
            <a:avLst/>
          </a:prstGeom>
        </p:spPr>
        <p:txBody>
          <a:bodyPr wrap="none">
            <a:spAutoFit/>
            <a:scene3d>
              <a:camera prst="isometricBottomDown"/>
              <a:lightRig rig="threePt" dir="t"/>
            </a:scene3d>
          </a:bodyPr>
          <a:lstStyle/>
          <a:p>
            <a:r>
              <a:rPr lang="en-US" dirty="0">
                <a:solidFill>
                  <a:schemeClr val="accent4"/>
                </a:solidFill>
              </a:rPr>
              <a:t>missed spam </a:t>
            </a:r>
            <a:endParaRPr lang="en-US" dirty="0" smtClean="0">
              <a:solidFill>
                <a:schemeClr val="accent4"/>
              </a:solidFill>
            </a:endParaRPr>
          </a:p>
          <a:p>
            <a:r>
              <a:rPr lang="en-US" dirty="0" smtClean="0">
                <a:solidFill>
                  <a:schemeClr val="accent4"/>
                </a:solidFill>
              </a:rPr>
              <a:t>vs</a:t>
            </a:r>
            <a:r>
              <a:rPr lang="en-US" dirty="0">
                <a:solidFill>
                  <a:schemeClr val="accent4"/>
                </a:solidFill>
              </a:rPr>
              <a:t>. TF-IDF 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3002690"/>
            <a:ext cx="2025719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Space Grotesk" panose="020B0600000101010101" charset="0"/>
                <a:cs typeface="Space Grotesk" panose="020B0600000101010101" charset="0"/>
              </a:rPr>
              <a:t>about </a:t>
            </a:r>
            <a:r>
              <a:rPr lang="en-US" b="1" dirty="0">
                <a:latin typeface="Space Grotesk" panose="020B0600000101010101" charset="0"/>
                <a:cs typeface="Space Grotesk" panose="020B0600000101010101" charset="0"/>
              </a:rPr>
              <a:t>1,794 more threats blocked per day</a:t>
            </a:r>
            <a:r>
              <a:rPr lang="en-US" dirty="0">
                <a:latin typeface="Space Grotesk" panose="020B0600000101010101" charset="0"/>
                <a:cs typeface="Space Grotesk" panose="020B0600000101010101" charset="0"/>
              </a:rPr>
              <a:t> than TF-IDF. </a:t>
            </a:r>
            <a:r>
              <a:rPr lang="en-US" i="1" dirty="0">
                <a:latin typeface="Space Grotesk" panose="020B0600000101010101" charset="0"/>
                <a:cs typeface="Space Grotesk" panose="020B0600000101010101" charset="0"/>
              </a:rPr>
              <a:t>(Extrapolation from the test set; assumes the same spam share and message mix.)</a:t>
            </a:r>
            <a:endParaRPr lang="en-US" dirty="0">
              <a:latin typeface="Space Grotesk" panose="020B0600000101010101" charset="0"/>
              <a:cs typeface="Space Grotesk" panose="020B0600000101010101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5" name="Google Shape;405;p38"/>
          <p:cNvGrpSpPr/>
          <p:nvPr/>
        </p:nvGrpSpPr>
        <p:grpSpPr>
          <a:xfrm rot="4659980" flipH="1">
            <a:off x="3840892" y="3123036"/>
            <a:ext cx="4573980" cy="3479278"/>
            <a:chOff x="1522650" y="1117750"/>
            <a:chExt cx="4574075" cy="3479350"/>
          </a:xfrm>
        </p:grpSpPr>
        <p:sp>
          <p:nvSpPr>
            <p:cNvPr id="406" name="Google Shape;406;p38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38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9" name="Google Shape;409;p38"/>
          <p:cNvSpPr txBox="1">
            <a:spLocks noGrp="1"/>
          </p:cNvSpPr>
          <p:nvPr>
            <p:ph type="title"/>
          </p:nvPr>
        </p:nvSpPr>
        <p:spPr>
          <a:xfrm>
            <a:off x="1795005" y="2256873"/>
            <a:ext cx="5941300" cy="667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 smtClean="0">
                <a:solidFill>
                  <a:srgbClr val="00B0F0"/>
                </a:solidFill>
              </a:rPr>
              <a:t>Conclusion</a:t>
            </a:r>
            <a:endParaRPr dirty="0"/>
          </a:p>
        </p:txBody>
      </p:sp>
      <p:sp>
        <p:nvSpPr>
          <p:cNvPr id="410" name="Google Shape;410;p38"/>
          <p:cNvSpPr txBox="1">
            <a:spLocks noGrp="1"/>
          </p:cNvSpPr>
          <p:nvPr>
            <p:ph type="title" idx="2"/>
          </p:nvPr>
        </p:nvSpPr>
        <p:spPr>
          <a:xfrm>
            <a:off x="803532" y="2134293"/>
            <a:ext cx="868857" cy="87491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11</a:t>
            </a:r>
            <a:endParaRPr dirty="0"/>
          </a:p>
        </p:txBody>
      </p:sp>
      <p:pic>
        <p:nvPicPr>
          <p:cNvPr id="414" name="Google Shape;41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 flipH="1">
            <a:off x="5738810" y="0"/>
            <a:ext cx="3405191" cy="514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43006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nip Diagonal Corner Rectangle 3"/>
          <p:cNvSpPr/>
          <p:nvPr/>
        </p:nvSpPr>
        <p:spPr>
          <a:xfrm>
            <a:off x="720000" y="1280160"/>
            <a:ext cx="2152740" cy="3009900"/>
          </a:xfrm>
          <a:prstGeom prst="snip2DiagRect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2" name="Google Shape;492;p4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Conclusion</a:t>
            </a:r>
            <a:endParaRPr dirty="0"/>
          </a:p>
        </p:txBody>
      </p:sp>
      <p:sp>
        <p:nvSpPr>
          <p:cNvPr id="5" name="Google Shape;492;p44"/>
          <p:cNvSpPr txBox="1">
            <a:spLocks/>
          </p:cNvSpPr>
          <p:nvPr/>
        </p:nvSpPr>
        <p:spPr>
          <a:xfrm>
            <a:off x="720000" y="1359425"/>
            <a:ext cx="395106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0" i="0" u="none" strike="noStrike" cap="none" spc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 i="0" u="none" strike="noStrike" cap="none" spc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 i="0" u="none" strike="noStrike" cap="none" spc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 i="0" u="none" strike="noStrike" cap="none" spc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 i="0" u="none" strike="noStrike" cap="none" spc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 i="0" u="none" strike="noStrike" cap="none" spc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 i="0" u="none" strike="noStrike" cap="none" spc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 i="0" u="none" strike="noStrike" cap="none" spc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 i="0" u="none" strike="noStrike" cap="none" spc="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r>
              <a:rPr lang="en-US" sz="1600" b="1" dirty="0">
                <a:solidFill>
                  <a:schemeClr val="accent4"/>
                </a:solidFill>
              </a:rPr>
              <a:t>99.28%</a:t>
            </a:r>
            <a:r>
              <a:rPr lang="en-US" sz="1600" dirty="0">
                <a:solidFill>
                  <a:schemeClr val="accent4"/>
                </a:solidFill>
              </a:rPr>
              <a:t> accuracy </a:t>
            </a:r>
            <a:r>
              <a:rPr lang="en-US" sz="1600" dirty="0" smtClean="0">
                <a:solidFill>
                  <a:schemeClr val="accent4"/>
                </a:solidFill>
              </a:rPr>
              <a:t> </a:t>
            </a:r>
          </a:p>
          <a:p>
            <a:r>
              <a:rPr lang="en-US" sz="1600" b="1" dirty="0" smtClean="0">
                <a:solidFill>
                  <a:schemeClr val="accent4"/>
                </a:solidFill>
              </a:rPr>
              <a:t>97.32</a:t>
            </a:r>
            <a:r>
              <a:rPr lang="en-US" sz="1600" b="1" dirty="0">
                <a:solidFill>
                  <a:schemeClr val="accent4"/>
                </a:solidFill>
              </a:rPr>
              <a:t>%</a:t>
            </a:r>
            <a:r>
              <a:rPr lang="en-US" sz="1600" dirty="0">
                <a:solidFill>
                  <a:schemeClr val="accent4"/>
                </a:solidFill>
              </a:rPr>
              <a:t> </a:t>
            </a:r>
            <a:r>
              <a:rPr lang="en-US" sz="1600" dirty="0" smtClean="0">
                <a:solidFill>
                  <a:schemeClr val="accent4"/>
                </a:solidFill>
              </a:rPr>
              <a:t>recall </a:t>
            </a:r>
          </a:p>
          <a:p>
            <a:r>
              <a:rPr lang="en-US" sz="1600" b="1" dirty="0" smtClean="0">
                <a:solidFill>
                  <a:schemeClr val="accent4"/>
                </a:solidFill>
              </a:rPr>
              <a:t>0.9990</a:t>
            </a:r>
            <a:r>
              <a:rPr lang="en-US" sz="1600" dirty="0" smtClean="0">
                <a:solidFill>
                  <a:schemeClr val="accent4"/>
                </a:solidFill>
              </a:rPr>
              <a:t> </a:t>
            </a:r>
            <a:r>
              <a:rPr lang="en-US" sz="1600" dirty="0">
                <a:solidFill>
                  <a:schemeClr val="accent4"/>
                </a:solidFill>
              </a:rPr>
              <a:t>ROC-AUC </a:t>
            </a:r>
            <a:endParaRPr lang="en-US" sz="1600" dirty="0" smtClean="0">
              <a:solidFill>
                <a:schemeClr val="accent4"/>
              </a:solidFill>
            </a:endParaRPr>
          </a:p>
          <a:p>
            <a:r>
              <a:rPr lang="en-US" sz="1600" b="1" dirty="0" smtClean="0">
                <a:solidFill>
                  <a:schemeClr val="accent4"/>
                </a:solidFill>
              </a:rPr>
              <a:t>−</a:t>
            </a:r>
            <a:r>
              <a:rPr lang="en-US" sz="1600" b="1" dirty="0">
                <a:solidFill>
                  <a:schemeClr val="accent4"/>
                </a:solidFill>
              </a:rPr>
              <a:t>83%</a:t>
            </a:r>
            <a:r>
              <a:rPr lang="en-US" sz="1600" dirty="0">
                <a:solidFill>
                  <a:schemeClr val="accent4"/>
                </a:solidFill>
              </a:rPr>
              <a:t> missed spam</a:t>
            </a:r>
          </a:p>
        </p:txBody>
      </p:sp>
      <p:sp>
        <p:nvSpPr>
          <p:cNvPr id="3" name="Rectangle 2"/>
          <p:cNvSpPr/>
          <p:nvPr/>
        </p:nvSpPr>
        <p:spPr>
          <a:xfrm>
            <a:off x="3276600" y="1359425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b="1" dirty="0">
                <a:latin typeface="Space Grotesk" panose="020B0600000101010101" charset="0"/>
                <a:cs typeface="Space Grotesk" panose="020B0600000101010101" charset="0"/>
              </a:rPr>
              <a:t>Key findings:</a:t>
            </a:r>
            <a:endParaRPr lang="en-US" sz="1600" dirty="0">
              <a:latin typeface="Space Grotesk" panose="020B0600000101010101" charset="0"/>
              <a:cs typeface="Space Grotesk" panose="020B0600000101010101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 err="1">
                <a:latin typeface="Space Grotesk" panose="020B0600000101010101" charset="0"/>
                <a:cs typeface="Space Grotesk" panose="020B0600000101010101" charset="0"/>
              </a:rPr>
              <a:t>DistilBERT</a:t>
            </a:r>
            <a:r>
              <a:rPr lang="en-US" sz="1600" dirty="0">
                <a:latin typeface="Space Grotesk" panose="020B0600000101010101" charset="0"/>
                <a:cs typeface="Space Grotesk" panose="020B0600000101010101" charset="0"/>
              </a:rPr>
              <a:t> outperformed TF-IDF + </a:t>
            </a:r>
            <a:r>
              <a:rPr lang="en-US" sz="1600" dirty="0" err="1">
                <a:latin typeface="Space Grotesk" panose="020B0600000101010101" charset="0"/>
                <a:cs typeface="Space Grotesk" panose="020B0600000101010101" charset="0"/>
              </a:rPr>
              <a:t>LogReg</a:t>
            </a:r>
            <a:r>
              <a:rPr lang="en-US" sz="1600" dirty="0">
                <a:latin typeface="Space Grotesk" panose="020B0600000101010101" charset="0"/>
                <a:cs typeface="Space Grotesk" panose="020B0600000101010101" charset="0"/>
              </a:rPr>
              <a:t> and </a:t>
            </a:r>
            <a:r>
              <a:rPr lang="en-US" sz="1600" dirty="0" err="1">
                <a:latin typeface="Space Grotesk" panose="020B0600000101010101" charset="0"/>
                <a:cs typeface="Space Grotesk" panose="020B0600000101010101" charset="0"/>
              </a:rPr>
              <a:t>BiLSTM</a:t>
            </a:r>
            <a:r>
              <a:rPr lang="en-US" sz="1600" dirty="0">
                <a:latin typeface="Space Grotesk" panose="020B0600000101010101" charset="0"/>
                <a:cs typeface="Space Grotesk" panose="020B0600000101010101" charset="0"/>
              </a:rPr>
              <a:t> on identical data, splits and metrics, so </a:t>
            </a:r>
            <a:r>
              <a:rPr lang="en-US" sz="1600" b="1" dirty="0">
                <a:latin typeface="Space Grotesk" panose="020B0600000101010101" charset="0"/>
                <a:cs typeface="Space Grotesk" panose="020B0600000101010101" charset="0"/>
              </a:rPr>
              <a:t>H1 is supported</a:t>
            </a:r>
            <a:endParaRPr lang="en-US" sz="1600" dirty="0">
              <a:latin typeface="Space Grotesk" panose="020B0600000101010101" charset="0"/>
              <a:cs typeface="Space Grotesk" panose="020B0600000101010101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Space Grotesk" panose="020B0600000101010101" charset="0"/>
                <a:cs typeface="Space Grotesk" panose="020B0600000101010101" charset="0"/>
              </a:rPr>
              <a:t>It handles obfuscated phishing, social engineering and unusual but legitimate text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 err="1">
                <a:latin typeface="Space Grotesk" panose="020B0600000101010101" charset="0"/>
                <a:cs typeface="Space Grotesk" panose="020B0600000101010101" charset="0"/>
              </a:rPr>
              <a:t>Pretraining</a:t>
            </a:r>
            <a:r>
              <a:rPr lang="en-US" sz="1600" dirty="0">
                <a:latin typeface="Space Grotesk" panose="020B0600000101010101" charset="0"/>
                <a:cs typeface="Space Grotesk" panose="020B0600000101010101" charset="0"/>
              </a:rPr>
              <a:t> helps even with a small labeled dataset, and a distilled model keeps cost manageable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Recommendations</a:t>
            </a:r>
            <a:endParaRPr dirty="0"/>
          </a:p>
        </p:txBody>
      </p:sp>
      <p:sp>
        <p:nvSpPr>
          <p:cNvPr id="510" name="Google Shape;510;p46"/>
          <p:cNvSpPr/>
          <p:nvPr/>
        </p:nvSpPr>
        <p:spPr>
          <a:xfrm>
            <a:off x="1025150" y="1393125"/>
            <a:ext cx="173700" cy="1737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46"/>
          <p:cNvSpPr/>
          <p:nvPr/>
        </p:nvSpPr>
        <p:spPr>
          <a:xfrm>
            <a:off x="1025150" y="2015985"/>
            <a:ext cx="173700" cy="1737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46"/>
          <p:cNvSpPr/>
          <p:nvPr/>
        </p:nvSpPr>
        <p:spPr>
          <a:xfrm>
            <a:off x="1025150" y="2646017"/>
            <a:ext cx="173700" cy="173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1297150" y="1273911"/>
            <a:ext cx="4572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smtClean="0"/>
              <a:t>Researchers</a:t>
            </a:r>
            <a:r>
              <a:rPr lang="en-US" b="1" dirty="0"/>
              <a:t>:</a:t>
            </a:r>
            <a:r>
              <a:rPr lang="en-US" dirty="0"/>
              <a:t> repeated runs and significance tests; multilingual and multimodal data</a:t>
            </a:r>
          </a:p>
          <a:p>
            <a:pPr>
              <a:lnSpc>
                <a:spcPct val="150000"/>
              </a:lnSpc>
            </a:pPr>
            <a:r>
              <a:rPr lang="en-US" b="1" dirty="0"/>
              <a:t>Practitioners:</a:t>
            </a:r>
            <a:r>
              <a:rPr lang="en-US" dirty="0"/>
              <a:t> </a:t>
            </a:r>
            <a:r>
              <a:rPr lang="en-US" dirty="0" err="1"/>
              <a:t>DistilBERT</a:t>
            </a:r>
            <a:r>
              <a:rPr lang="en-US" dirty="0"/>
              <a:t> filtering with periodic retraining and a tunable threshold</a:t>
            </a:r>
          </a:p>
          <a:p>
            <a:pPr>
              <a:lnSpc>
                <a:spcPct val="150000"/>
              </a:lnSpc>
            </a:pPr>
            <a:r>
              <a:rPr lang="en-US" b="1" dirty="0"/>
              <a:t>Policymakers:</a:t>
            </a:r>
            <a:r>
              <a:rPr lang="en-US" dirty="0"/>
              <a:t> support open, contemporary spam corpora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105901" flipH="1">
            <a:off x="-768777" y="-3733866"/>
            <a:ext cx="4365448" cy="6809685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3"/>
          <p:cNvSpPr txBox="1">
            <a:spLocks noGrp="1"/>
          </p:cNvSpPr>
          <p:nvPr>
            <p:ph type="title"/>
          </p:nvPr>
        </p:nvSpPr>
        <p:spPr>
          <a:xfrm>
            <a:off x="4047175" y="2388500"/>
            <a:ext cx="4941842" cy="16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 smtClean="0"/>
              <a:t>Semantic Context </a:t>
            </a:r>
            <a:r>
              <a:rPr lang="en-US" dirty="0" smtClean="0">
                <a:solidFill>
                  <a:schemeClr val="accent2"/>
                </a:solidFill>
              </a:rPr>
              <a:t>Evaluation I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294" name="Google Shape;294;p33"/>
          <p:cNvSpPr txBox="1">
            <a:spLocks noGrp="1"/>
          </p:cNvSpPr>
          <p:nvPr>
            <p:ph type="title" idx="2"/>
          </p:nvPr>
        </p:nvSpPr>
        <p:spPr>
          <a:xfrm>
            <a:off x="4047175" y="1438750"/>
            <a:ext cx="1230300" cy="88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</a:t>
            </a:r>
            <a:r>
              <a:rPr lang="en" dirty="0" smtClean="0"/>
              <a:t>2</a:t>
            </a:r>
            <a:endParaRPr dirty="0"/>
          </a:p>
        </p:txBody>
      </p:sp>
      <p:grpSp>
        <p:nvGrpSpPr>
          <p:cNvPr id="295" name="Google Shape;295;p33"/>
          <p:cNvGrpSpPr/>
          <p:nvPr/>
        </p:nvGrpSpPr>
        <p:grpSpPr>
          <a:xfrm rot="756538">
            <a:off x="5159567" y="-1610422"/>
            <a:ext cx="4574157" cy="3479412"/>
            <a:chOff x="1522650" y="1117750"/>
            <a:chExt cx="4574075" cy="3479350"/>
          </a:xfrm>
        </p:grpSpPr>
        <p:sp>
          <p:nvSpPr>
            <p:cNvPr id="296" name="Google Shape;296;p33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3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8" name="Google Shape;29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8503364" flipH="1">
            <a:off x="-2755719" y="1894295"/>
            <a:ext cx="4365448" cy="68096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59097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47"/>
          <p:cNvSpPr txBox="1">
            <a:spLocks noGrp="1"/>
          </p:cNvSpPr>
          <p:nvPr>
            <p:ph type="title"/>
          </p:nvPr>
        </p:nvSpPr>
        <p:spPr>
          <a:xfrm>
            <a:off x="630325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400" dirty="0"/>
              <a:t>Where Context Wins: Spam the Baseline Missed</a:t>
            </a:r>
            <a:endParaRPr sz="2400" dirty="0"/>
          </a:p>
        </p:txBody>
      </p:sp>
      <p:sp>
        <p:nvSpPr>
          <p:cNvPr id="527" name="Google Shape;527;p47"/>
          <p:cNvSpPr txBox="1"/>
          <p:nvPr/>
        </p:nvSpPr>
        <p:spPr>
          <a:xfrm>
            <a:off x="7133880" y="2097512"/>
            <a:ext cx="1762148" cy="2560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1200" dirty="0">
                <a:solidFill>
                  <a:schemeClr val="tx1">
                    <a:lumMod val="50000"/>
                  </a:schemeClr>
                </a:solidFill>
              </a:rPr>
              <a:t>We examined test messages that TF-IDF got wrong and </a:t>
            </a:r>
            <a:r>
              <a:rPr lang="en-US" sz="1200" dirty="0" err="1">
                <a:solidFill>
                  <a:schemeClr val="tx1">
                    <a:lumMod val="50000"/>
                  </a:schemeClr>
                </a:solidFill>
              </a:rPr>
              <a:t>DistilBERT</a:t>
            </a:r>
            <a:r>
              <a:rPr lang="en-US" sz="1200" dirty="0">
                <a:solidFill>
                  <a:schemeClr val="tx1">
                    <a:lumMod val="50000"/>
                  </a:schemeClr>
                </a:solidFill>
              </a:rPr>
              <a:t> got right: </a:t>
            </a:r>
            <a:r>
              <a:rPr lang="en-US" sz="1200" b="1" dirty="0">
                <a:solidFill>
                  <a:schemeClr val="tx1">
                    <a:lumMod val="50000"/>
                  </a:schemeClr>
                </a:solidFill>
              </a:rPr>
              <a:t>19 messages (2.3% of the test set)</a:t>
            </a:r>
            <a:r>
              <a:rPr lang="en-US" sz="1200" dirty="0">
                <a:solidFill>
                  <a:schemeClr val="tx1">
                    <a:lumMod val="50000"/>
                  </a:schemeClr>
                </a:solidFill>
              </a:rPr>
              <a:t> = 16 spam recovered + 3 legitimate messages recovered.</a:t>
            </a:r>
            <a:endParaRPr sz="1200" b="1" u="sng" dirty="0">
              <a:solidFill>
                <a:schemeClr val="tx1">
                  <a:lumMod val="50000"/>
                </a:schemeClr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528" name="Google Shape;528;p47"/>
          <p:cNvSpPr txBox="1"/>
          <p:nvPr/>
        </p:nvSpPr>
        <p:spPr>
          <a:xfrm>
            <a:off x="4482325" y="3377675"/>
            <a:ext cx="2005200" cy="572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120 u/day</a:t>
            </a:r>
            <a:endParaRPr sz="30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30" name="Google Shape;530;p47"/>
          <p:cNvSpPr txBox="1"/>
          <p:nvPr/>
        </p:nvSpPr>
        <p:spPr>
          <a:xfrm>
            <a:off x="4482325" y="3950375"/>
            <a:ext cx="2005200" cy="2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Output per worker</a:t>
            </a:r>
            <a:endParaRPr sz="12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2316441"/>
              </p:ext>
            </p:extLst>
          </p:nvPr>
        </p:nvGraphicFramePr>
        <p:xfrm>
          <a:off x="720000" y="1017725"/>
          <a:ext cx="6268888" cy="3416300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1567222">
                  <a:extLst>
                    <a:ext uri="{9D8B030D-6E8A-4147-A177-3AD203B41FA5}">
                      <a16:colId xmlns:a16="http://schemas.microsoft.com/office/drawing/2014/main" val="3135141316"/>
                    </a:ext>
                  </a:extLst>
                </a:gridCol>
                <a:gridCol w="1567222">
                  <a:extLst>
                    <a:ext uri="{9D8B030D-6E8A-4147-A177-3AD203B41FA5}">
                      <a16:colId xmlns:a16="http://schemas.microsoft.com/office/drawing/2014/main" val="3008798356"/>
                    </a:ext>
                  </a:extLst>
                </a:gridCol>
                <a:gridCol w="1567222">
                  <a:extLst>
                    <a:ext uri="{9D8B030D-6E8A-4147-A177-3AD203B41FA5}">
                      <a16:colId xmlns:a16="http://schemas.microsoft.com/office/drawing/2014/main" val="3732746272"/>
                    </a:ext>
                  </a:extLst>
                </a:gridCol>
                <a:gridCol w="1567222">
                  <a:extLst>
                    <a:ext uri="{9D8B030D-6E8A-4147-A177-3AD203B41FA5}">
                      <a16:colId xmlns:a16="http://schemas.microsoft.com/office/drawing/2014/main" val="3031039449"/>
                    </a:ext>
                  </a:extLst>
                </a:gridCol>
              </a:tblGrid>
              <a:tr h="247558">
                <a:tc>
                  <a:txBody>
                    <a:bodyPr/>
                    <a:lstStyle/>
                    <a:p>
                      <a:r>
                        <a:rPr lang="en-US" sz="1100" dirty="0"/>
                        <a:t>Message (excerpt)</a:t>
                      </a:r>
                    </a:p>
                  </a:txBody>
                  <a:tcPr marL="74267" marR="74267" marT="37134" marB="371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TF-IDF</a:t>
                      </a:r>
                    </a:p>
                  </a:txBody>
                  <a:tcPr marL="74267" marR="74267" marT="37134" marB="371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DistilBERT</a:t>
                      </a:r>
                    </a:p>
                  </a:txBody>
                  <a:tcPr marL="74267" marR="74267" marT="37134" marB="371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Why</a:t>
                      </a:r>
                    </a:p>
                  </a:txBody>
                  <a:tcPr marL="74267" marR="74267" marT="37134" marB="371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4154455"/>
                  </a:ext>
                </a:extLst>
              </a:tr>
              <a:tr h="1287301">
                <a:tc>
                  <a:txBody>
                    <a:bodyPr/>
                    <a:lstStyle/>
                    <a:p>
                      <a:r>
                        <a:rPr lang="en-US" sz="1100"/>
                        <a:t>“This msg is for your mobile content order… resent as previous attempt failed… Queries to </a:t>
                      </a:r>
                      <a:r>
                        <a:rPr lang="en-US" sz="1100">
                          <a:hlinkClick r:id="rId3"/>
                        </a:rPr>
                        <a:t>customersqueries@netvision.uk.com</a:t>
                      </a:r>
                      <a:r>
                        <a:rPr lang="en-US" sz="1100"/>
                        <a:t>”</a:t>
                      </a:r>
                    </a:p>
                  </a:txBody>
                  <a:tcPr marL="74267" marR="74267" marT="37134" marB="371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Ham ✗</a:t>
                      </a:r>
                    </a:p>
                  </a:txBody>
                  <a:tcPr marL="74267" marR="74267" marT="37134" marB="371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Spam ✓</a:t>
                      </a:r>
                    </a:p>
                  </a:txBody>
                  <a:tcPr marL="74267" marR="74267" marT="37134" marB="371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No spam keywords, but a false premise, a manufactured problem and a contact point form a phishing structure</a:t>
                      </a:r>
                    </a:p>
                  </a:txBody>
                  <a:tcPr marL="74267" marR="74267" marT="37134" marB="371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1409159"/>
                  </a:ext>
                </a:extLst>
              </a:tr>
              <a:tr h="1114011">
                <a:tc>
                  <a:txBody>
                    <a:bodyPr/>
                    <a:lstStyle/>
                    <a:p>
                      <a:r>
                        <a:rPr lang="en-US" sz="1100"/>
                        <a:t>“CLAIRE here am havin borin time… U wanna cum over 2nite? Chat now 09099725823… Calls£1/min…”</a:t>
                      </a:r>
                    </a:p>
                  </a:txBody>
                  <a:tcPr marL="74267" marR="74267" marT="37134" marB="371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Ham ✗</a:t>
                      </a:r>
                    </a:p>
                  </a:txBody>
                  <a:tcPr marL="74267" marR="74267" marT="37134" marB="371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Spam ✓</a:t>
                      </a:r>
                    </a:p>
                  </a:txBody>
                  <a:tcPr marL="74267" marR="74267" marT="37134" marB="371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Intimate tone vs. premium-rate number and buried charge notice</a:t>
                      </a:r>
                    </a:p>
                  </a:txBody>
                  <a:tcPr marL="74267" marR="74267" marT="37134" marB="371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8790752"/>
                  </a:ext>
                </a:extLst>
              </a:tr>
              <a:tr h="767430">
                <a:tc>
                  <a:txBody>
                    <a:bodyPr/>
                    <a:lstStyle/>
                    <a:p>
                      <a:r>
                        <a:rPr lang="en-US" sz="1100"/>
                        <a:t>“Want explicit SEX in 30 secs? Ring 02073162414 now! Costs 20p/min”</a:t>
                      </a:r>
                    </a:p>
                  </a:txBody>
                  <a:tcPr marL="74267" marR="74267" marT="37134" marB="371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Ham ✗</a:t>
                      </a:r>
                    </a:p>
                  </a:txBody>
                  <a:tcPr marL="74267" marR="74267" marT="37134" marB="371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Spam ✓</a:t>
                      </a:r>
                    </a:p>
                  </a:txBody>
                  <a:tcPr marL="74267" marR="74267" marT="37134" marB="371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Adult content + time pressure + per-minute charge, linked together</a:t>
                      </a:r>
                    </a:p>
                  </a:txBody>
                  <a:tcPr marL="74267" marR="74267" marT="37134" marB="371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686478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105901" flipH="1">
            <a:off x="-768777" y="-3733866"/>
            <a:ext cx="4365448" cy="6809685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3"/>
          <p:cNvSpPr txBox="1">
            <a:spLocks noGrp="1"/>
          </p:cNvSpPr>
          <p:nvPr>
            <p:ph type="title"/>
          </p:nvPr>
        </p:nvSpPr>
        <p:spPr>
          <a:xfrm>
            <a:off x="4047175" y="2388500"/>
            <a:ext cx="4941842" cy="16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 smtClean="0"/>
              <a:t>Semantic Context </a:t>
            </a:r>
            <a:r>
              <a:rPr lang="en-US" dirty="0" smtClean="0">
                <a:solidFill>
                  <a:schemeClr val="accent2"/>
                </a:solidFill>
              </a:rPr>
              <a:t>Evaluation II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294" name="Google Shape;294;p33"/>
          <p:cNvSpPr txBox="1">
            <a:spLocks noGrp="1"/>
          </p:cNvSpPr>
          <p:nvPr>
            <p:ph type="title" idx="2"/>
          </p:nvPr>
        </p:nvSpPr>
        <p:spPr>
          <a:xfrm>
            <a:off x="4047175" y="1438750"/>
            <a:ext cx="1230300" cy="88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13</a:t>
            </a:r>
            <a:endParaRPr dirty="0"/>
          </a:p>
        </p:txBody>
      </p:sp>
      <p:grpSp>
        <p:nvGrpSpPr>
          <p:cNvPr id="295" name="Google Shape;295;p33"/>
          <p:cNvGrpSpPr/>
          <p:nvPr/>
        </p:nvGrpSpPr>
        <p:grpSpPr>
          <a:xfrm rot="756538">
            <a:off x="5159567" y="-1610422"/>
            <a:ext cx="4574157" cy="3479412"/>
            <a:chOff x="1522650" y="1117750"/>
            <a:chExt cx="4574075" cy="3479350"/>
          </a:xfrm>
        </p:grpSpPr>
        <p:sp>
          <p:nvSpPr>
            <p:cNvPr id="296" name="Google Shape;296;p33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3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8" name="Google Shape;29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8503364" flipH="1">
            <a:off x="-2755719" y="1894295"/>
            <a:ext cx="4365448" cy="68096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07307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47"/>
          <p:cNvSpPr txBox="1">
            <a:spLocks noGrp="1"/>
          </p:cNvSpPr>
          <p:nvPr>
            <p:ph type="title"/>
          </p:nvPr>
        </p:nvSpPr>
        <p:spPr>
          <a:xfrm>
            <a:off x="630325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400" dirty="0"/>
              <a:t>Avoiding False Alarms and Why </a:t>
            </a:r>
            <a:r>
              <a:rPr lang="en-US" sz="2400" dirty="0" err="1"/>
              <a:t>DistilBERT</a:t>
            </a:r>
            <a:r>
              <a:rPr lang="en-US" sz="2400" dirty="0"/>
              <a:t> Wins</a:t>
            </a:r>
            <a:endParaRPr sz="2400" dirty="0"/>
          </a:p>
        </p:txBody>
      </p:sp>
      <p:sp>
        <p:nvSpPr>
          <p:cNvPr id="527" name="Google Shape;527;p47"/>
          <p:cNvSpPr txBox="1"/>
          <p:nvPr/>
        </p:nvSpPr>
        <p:spPr>
          <a:xfrm>
            <a:off x="5734373" y="862742"/>
            <a:ext cx="3037668" cy="2560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>
                <a:latin typeface="Space Grotesk" panose="020B0600000101010101" charset="0"/>
                <a:cs typeface="Space Grotesk" panose="020B0600000101010101" charset="0"/>
              </a:rPr>
              <a:t>Five semantic mechanisms </a:t>
            </a:r>
            <a:endParaRPr lang="en-US" sz="1200" dirty="0">
              <a:latin typeface="Space Grotesk" panose="020B0600000101010101" charset="0"/>
              <a:cs typeface="Space Grotesk" panose="020B0600000101010101" charset="0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b="1" dirty="0">
                <a:latin typeface="Space Grotesk" panose="020B0600000101010101" charset="0"/>
                <a:cs typeface="Space Grotesk" panose="020B0600000101010101" charset="0"/>
              </a:rPr>
              <a:t>Obfuscation resistance:</a:t>
            </a:r>
            <a:r>
              <a:rPr lang="en-US" sz="1200" dirty="0">
                <a:latin typeface="Space Grotesk" panose="020B0600000101010101" charset="0"/>
                <a:cs typeface="Space Grotesk" panose="020B0600000101010101" charset="0"/>
              </a:rPr>
              <a:t> intent detected without trigger keywords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b="1" dirty="0">
                <a:latin typeface="Space Grotesk" panose="020B0600000101010101" charset="0"/>
                <a:cs typeface="Space Grotesk" panose="020B0600000101010101" charset="0"/>
              </a:rPr>
              <a:t>Contextual coherence:</a:t>
            </a:r>
            <a:r>
              <a:rPr lang="en-US" sz="1200" dirty="0">
                <a:latin typeface="Space Grotesk" panose="020B0600000101010101" charset="0"/>
                <a:cs typeface="Space Grotesk" panose="020B0600000101010101" charset="0"/>
              </a:rPr>
              <a:t> the whole message is read, not isolated words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b="1" dirty="0">
                <a:latin typeface="Space Grotesk" panose="020B0600000101010101" charset="0"/>
                <a:cs typeface="Space Grotesk" panose="020B0600000101010101" charset="0"/>
              </a:rPr>
              <a:t>Structural pattern recognition:</a:t>
            </a:r>
            <a:r>
              <a:rPr lang="en-US" sz="1200" dirty="0">
                <a:latin typeface="Space Grotesk" panose="020B0600000101010101" charset="0"/>
                <a:cs typeface="Space Grotesk" panose="020B0600000101010101" charset="0"/>
              </a:rPr>
              <a:t> buried disclosures and spam templates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b="1" dirty="0">
                <a:latin typeface="Space Grotesk" panose="020B0600000101010101" charset="0"/>
                <a:cs typeface="Space Grotesk" panose="020B0600000101010101" charset="0"/>
              </a:rPr>
              <a:t>Intent understanding:</a:t>
            </a:r>
            <a:r>
              <a:rPr lang="en-US" sz="1200" dirty="0">
                <a:latin typeface="Space Grotesk" panose="020B0600000101010101" charset="0"/>
                <a:cs typeface="Space Grotesk" panose="020B0600000101010101" charset="0"/>
              </a:rPr>
              <a:t> playful or informational text vs. solicitation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200" b="1" dirty="0">
                <a:latin typeface="Space Grotesk" panose="020B0600000101010101" charset="0"/>
                <a:cs typeface="Space Grotesk" panose="020B0600000101010101" charset="0"/>
              </a:rPr>
              <a:t>Transfer-learning robustness:</a:t>
            </a:r>
            <a:r>
              <a:rPr lang="en-US" sz="1200" dirty="0">
                <a:latin typeface="Space Grotesk" panose="020B0600000101010101" charset="0"/>
                <a:cs typeface="Space Grotesk" panose="020B0600000101010101" charset="0"/>
              </a:rPr>
              <a:t> </a:t>
            </a:r>
            <a:r>
              <a:rPr lang="en-US" sz="1200" dirty="0" err="1">
                <a:latin typeface="Space Grotesk" panose="020B0600000101010101" charset="0"/>
                <a:cs typeface="Space Grotesk" panose="020B0600000101010101" charset="0"/>
              </a:rPr>
              <a:t>subwords</a:t>
            </a:r>
            <a:r>
              <a:rPr lang="en-US" sz="1200" dirty="0">
                <a:latin typeface="Space Grotesk" panose="020B0600000101010101" charset="0"/>
                <a:cs typeface="Space Grotesk" panose="020B0600000101010101" charset="0"/>
              </a:rPr>
              <a:t> and </a:t>
            </a:r>
            <a:r>
              <a:rPr lang="en-US" sz="1200" dirty="0" err="1">
                <a:latin typeface="Space Grotesk" panose="020B0600000101010101" charset="0"/>
                <a:cs typeface="Space Grotesk" panose="020B0600000101010101" charset="0"/>
              </a:rPr>
              <a:t>pretraining</a:t>
            </a:r>
            <a:r>
              <a:rPr lang="en-US" sz="1200" dirty="0">
                <a:latin typeface="Space Grotesk" panose="020B0600000101010101" charset="0"/>
                <a:cs typeface="Space Grotesk" panose="020B0600000101010101" charset="0"/>
              </a:rPr>
              <a:t> handle slang, rare words and misspellings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6003349"/>
              </p:ext>
            </p:extLst>
          </p:nvPr>
        </p:nvGraphicFramePr>
        <p:xfrm>
          <a:off x="630325" y="1017726"/>
          <a:ext cx="5104048" cy="3933912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276012">
                  <a:extLst>
                    <a:ext uri="{9D8B030D-6E8A-4147-A177-3AD203B41FA5}">
                      <a16:colId xmlns:a16="http://schemas.microsoft.com/office/drawing/2014/main" val="573617703"/>
                    </a:ext>
                  </a:extLst>
                </a:gridCol>
                <a:gridCol w="1276012">
                  <a:extLst>
                    <a:ext uri="{9D8B030D-6E8A-4147-A177-3AD203B41FA5}">
                      <a16:colId xmlns:a16="http://schemas.microsoft.com/office/drawing/2014/main" val="8969961"/>
                    </a:ext>
                  </a:extLst>
                </a:gridCol>
                <a:gridCol w="1276012">
                  <a:extLst>
                    <a:ext uri="{9D8B030D-6E8A-4147-A177-3AD203B41FA5}">
                      <a16:colId xmlns:a16="http://schemas.microsoft.com/office/drawing/2014/main" val="1606223344"/>
                    </a:ext>
                  </a:extLst>
                </a:gridCol>
                <a:gridCol w="1276012">
                  <a:extLst>
                    <a:ext uri="{9D8B030D-6E8A-4147-A177-3AD203B41FA5}">
                      <a16:colId xmlns:a16="http://schemas.microsoft.com/office/drawing/2014/main" val="1944081362"/>
                    </a:ext>
                  </a:extLst>
                </a:gridCol>
              </a:tblGrid>
              <a:tr h="337272">
                <a:tc>
                  <a:txBody>
                    <a:bodyPr/>
                    <a:lstStyle/>
                    <a:p>
                      <a:r>
                        <a:rPr lang="en-US"/>
                        <a:t>Message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TF-IDF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DistilBERT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Why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1780137"/>
                  </a:ext>
                </a:extLst>
              </a:tr>
              <a:tr h="1558940">
                <a:tc>
                  <a:txBody>
                    <a:bodyPr/>
                    <a:lstStyle/>
                    <a:p>
                      <a:r>
                        <a:rPr lang="en-US"/>
                        <a:t>“U 2.”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Spam 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Ham 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After cleaning almost no features remain; DistilBERT reads “U 2” as “you too”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5099744"/>
                  </a:ext>
                </a:extLst>
              </a:tr>
              <a:tr h="1743900">
                <a:tc>
                  <a:txBody>
                    <a:bodyPr/>
                    <a:lstStyle/>
                    <a:p>
                      <a:r>
                        <a:rPr lang="en-US"/>
                        <a:t>“Funny fact Nobody teaches volcanoes 2 erupt, tsunamis 2 arise…”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Spam 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Ham 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Rare words get high IDF weights and the length looks like spam; </a:t>
                      </a:r>
                      <a:r>
                        <a:rPr lang="en-US" dirty="0" err="1"/>
                        <a:t>DistilBERT</a:t>
                      </a:r>
                      <a:r>
                        <a:rPr lang="en-US" dirty="0"/>
                        <a:t> recognizes humor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24084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0433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5" name="Google Shape;405;p38"/>
          <p:cNvGrpSpPr/>
          <p:nvPr/>
        </p:nvGrpSpPr>
        <p:grpSpPr>
          <a:xfrm rot="4659980" flipH="1">
            <a:off x="3840892" y="3123036"/>
            <a:ext cx="4573980" cy="3479278"/>
            <a:chOff x="1522650" y="1117750"/>
            <a:chExt cx="4574075" cy="3479350"/>
          </a:xfrm>
        </p:grpSpPr>
        <p:sp>
          <p:nvSpPr>
            <p:cNvPr id="406" name="Google Shape;406;p38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38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9" name="Google Shape;409;p38"/>
          <p:cNvSpPr txBox="1">
            <a:spLocks noGrp="1"/>
          </p:cNvSpPr>
          <p:nvPr>
            <p:ph type="title"/>
          </p:nvPr>
        </p:nvSpPr>
        <p:spPr>
          <a:xfrm>
            <a:off x="1795005" y="2256873"/>
            <a:ext cx="4574798" cy="667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 smtClean="0">
                <a:solidFill>
                  <a:srgbClr val="00B0F0"/>
                </a:solidFill>
              </a:rPr>
              <a:t>Discussion &amp; </a:t>
            </a:r>
            <a:r>
              <a:rPr lang="en-US" dirty="0" smtClean="0">
                <a:solidFill>
                  <a:schemeClr val="tx1">
                    <a:lumMod val="50000"/>
                  </a:schemeClr>
                </a:solidFill>
              </a:rPr>
              <a:t>Future work</a:t>
            </a:r>
            <a:endParaRPr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10" name="Google Shape;410;p38"/>
          <p:cNvSpPr txBox="1">
            <a:spLocks noGrp="1"/>
          </p:cNvSpPr>
          <p:nvPr>
            <p:ph type="title" idx="2"/>
          </p:nvPr>
        </p:nvSpPr>
        <p:spPr>
          <a:xfrm>
            <a:off x="803532" y="2134293"/>
            <a:ext cx="868857" cy="87491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11</a:t>
            </a:r>
            <a:endParaRPr dirty="0"/>
          </a:p>
        </p:txBody>
      </p:sp>
      <p:pic>
        <p:nvPicPr>
          <p:cNvPr id="414" name="Google Shape;41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 flipH="1">
            <a:off x="5738810" y="0"/>
            <a:ext cx="3405191" cy="514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66527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387458" y="1441343"/>
            <a:ext cx="2774195" cy="2991173"/>
          </a:xfrm>
          <a:prstGeom prst="roundRect">
            <a:avLst>
              <a:gd name="adj" fmla="val 4196"/>
            </a:avLst>
          </a:prstGeom>
          <a:solidFill>
            <a:schemeClr val="accent4">
              <a:lumMod val="9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022" y="533257"/>
            <a:ext cx="8176027" cy="572700"/>
          </a:xfrm>
        </p:spPr>
        <p:txBody>
          <a:bodyPr/>
          <a:lstStyle/>
          <a:p>
            <a:r>
              <a:rPr lang="en-US" dirty="0" smtClean="0"/>
              <a:t>Discussion, Deployment and Future Work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87458" y="1539416"/>
            <a:ext cx="2619213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What we can </a:t>
            </a:r>
            <a:r>
              <a:rPr lang="en-US" b="1" dirty="0" smtClean="0">
                <a:solidFill>
                  <a:schemeClr val="tx1">
                    <a:lumMod val="50000"/>
                  </a:schemeClr>
                </a:solidFill>
              </a:rPr>
              <a:t>say</a:t>
            </a:r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H1 supported: higher recall and F1 than both baselines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Self-attention links distant cues (number + cost disclaimer)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99.28% accuracy exceeds earlier reports (about 96–98%), but splits and metrics differ, so the comparison is only indicative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65930" y="1441342"/>
            <a:ext cx="2867187" cy="2991173"/>
          </a:xfrm>
          <a:prstGeom prst="roundRect">
            <a:avLst>
              <a:gd name="adj" fmla="val 4196"/>
            </a:avLst>
          </a:prstGeom>
          <a:solidFill>
            <a:schemeClr val="accent4">
              <a:lumMod val="9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308216" y="1539416"/>
            <a:ext cx="2867187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Limitations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Single split, single run, no significance test (only 112 spam in the test set, so each miss ≈ 0.9 pp of recall)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Data is old (2011–2012), English-only and UK-centric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Higher compute cost and less interpretability than TF-IDF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Character-level attacks may still hurt; latency was not formally benchmarked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7395" y="1441343"/>
            <a:ext cx="2798117" cy="2991173"/>
          </a:xfrm>
          <a:prstGeom prst="roundRect">
            <a:avLst>
              <a:gd name="adj" fmla="val 4196"/>
            </a:avLst>
          </a:prstGeom>
          <a:solidFill>
            <a:schemeClr val="accent4">
              <a:lumMod val="9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6237395" y="1539416"/>
            <a:ext cx="2906605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What we can say:</a:t>
            </a:r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pPr marL="157163" indent="-157163">
              <a:buFont typeface="+mj-lt"/>
              <a:buAutoNum type="arabicPeriod"/>
            </a:pPr>
            <a:r>
              <a:rPr lang="en-US" b="1" dirty="0"/>
              <a:t>Pipeline:</a:t>
            </a:r>
            <a:r>
              <a:rPr lang="en-US" dirty="0"/>
              <a:t> SMS → Gateway → </a:t>
            </a:r>
            <a:r>
              <a:rPr lang="en-US" dirty="0" err="1"/>
              <a:t>DistilBERT</a:t>
            </a:r>
            <a:r>
              <a:rPr lang="en-US" dirty="0"/>
              <a:t> → P(spam) ≥ 0.5? → Quarantine / Inbox</a:t>
            </a:r>
          </a:p>
          <a:p>
            <a:pPr marL="157163" indent="-157163">
              <a:buFont typeface="+mj-lt"/>
              <a:buAutoNum type="arabicPeriod"/>
            </a:pPr>
            <a:r>
              <a:rPr lang="en-US" dirty="0"/>
              <a:t>Use GPU or quantization/ONNX at scale; retrain periodically for drift; tune the threshold</a:t>
            </a:r>
          </a:p>
          <a:p>
            <a:pPr marL="157163" indent="-157163">
              <a:buFont typeface="+mj-lt"/>
              <a:buAutoNum type="arabicPeriod"/>
            </a:pPr>
            <a:r>
              <a:rPr lang="en-US" b="1" dirty="0"/>
              <a:t>Future work:</a:t>
            </a:r>
            <a:r>
              <a:rPr lang="en-US" dirty="0"/>
              <a:t> larger, recent, multilingual data (</a:t>
            </a:r>
            <a:r>
              <a:rPr lang="en-US" dirty="0" err="1"/>
              <a:t>mBERT</a:t>
            </a:r>
            <a:r>
              <a:rPr lang="en-US" dirty="0"/>
              <a:t>, XLM-</a:t>
            </a:r>
            <a:r>
              <a:rPr lang="en-US" dirty="0" err="1"/>
              <a:t>RoBERTa</a:t>
            </a:r>
            <a:r>
              <a:rPr lang="en-US" dirty="0"/>
              <a:t>); </a:t>
            </a:r>
            <a:r>
              <a:rPr lang="en-US" dirty="0" err="1"/>
              <a:t>MobileBERT</a:t>
            </a:r>
            <a:r>
              <a:rPr lang="en-US" dirty="0"/>
              <a:t>, </a:t>
            </a:r>
            <a:r>
              <a:rPr lang="en-US" dirty="0" err="1"/>
              <a:t>RoBERTa</a:t>
            </a:r>
            <a:r>
              <a:rPr lang="en-US" dirty="0"/>
              <a:t> and </a:t>
            </a:r>
            <a:r>
              <a:rPr lang="en-US" dirty="0" err="1"/>
              <a:t>DeBERTa</a:t>
            </a:r>
            <a:r>
              <a:rPr lang="en-US" dirty="0"/>
              <a:t>; ensembles, explainable AI and multimodal signals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7" name="Google Shape;537;p48"/>
          <p:cNvGrpSpPr/>
          <p:nvPr/>
        </p:nvGrpSpPr>
        <p:grpSpPr>
          <a:xfrm rot="4659980" flipH="1">
            <a:off x="3840892" y="3123036"/>
            <a:ext cx="4573980" cy="3479278"/>
            <a:chOff x="1522650" y="1117750"/>
            <a:chExt cx="4574075" cy="3479350"/>
          </a:xfrm>
        </p:grpSpPr>
        <p:sp>
          <p:nvSpPr>
            <p:cNvPr id="538" name="Google Shape;538;p48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48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40" name="Google Shape;540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 flipH="1">
            <a:off x="5738810" y="0"/>
            <a:ext cx="340519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48"/>
          <p:cNvSpPr txBox="1">
            <a:spLocks noGrp="1"/>
          </p:cNvSpPr>
          <p:nvPr>
            <p:ph type="title"/>
          </p:nvPr>
        </p:nvSpPr>
        <p:spPr>
          <a:xfrm>
            <a:off x="658410" y="1956131"/>
            <a:ext cx="5532592" cy="95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Thanks You!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542441" y="3275593"/>
            <a:ext cx="3471620" cy="90894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ata Migration Project Proposal by Slidesgo">
  <a:themeElements>
    <a:clrScheme name="Simple Light">
      <a:dk1>
        <a:srgbClr val="241160"/>
      </a:dk1>
      <a:lt1>
        <a:srgbClr val="FFFFFF"/>
      </a:lt1>
      <a:dk2>
        <a:srgbClr val="E2E4FC"/>
      </a:dk2>
      <a:lt2>
        <a:srgbClr val="8861F1"/>
      </a:lt2>
      <a:accent1>
        <a:srgbClr val="545EEA"/>
      </a:accent1>
      <a:accent2>
        <a:srgbClr val="0B9CDC"/>
      </a:accent2>
      <a:accent3>
        <a:srgbClr val="01CFE6"/>
      </a:accent3>
      <a:accent4>
        <a:srgbClr val="FFFFFF"/>
      </a:accent4>
      <a:accent5>
        <a:srgbClr val="FFFFFF"/>
      </a:accent5>
      <a:accent6>
        <a:srgbClr val="FFFFFF"/>
      </a:accent6>
      <a:hlink>
        <a:srgbClr val="24116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1629</Words>
  <Application>Microsoft Office PowerPoint</Application>
  <PresentationFormat>On-screen Show (16:9)</PresentationFormat>
  <Paragraphs>263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3" baseType="lpstr">
      <vt:lpstr>PT Sans</vt:lpstr>
      <vt:lpstr>Britannic Bold</vt:lpstr>
      <vt:lpstr>Arial</vt:lpstr>
      <vt:lpstr>Nunito Light</vt:lpstr>
      <vt:lpstr>Cairo</vt:lpstr>
      <vt:lpstr>Raleway</vt:lpstr>
      <vt:lpstr>Space Grotesk Medium</vt:lpstr>
      <vt:lpstr>Space Grotesk</vt:lpstr>
      <vt:lpstr>Open Sans</vt:lpstr>
      <vt:lpstr>Data Migration Project Proposal by Slidesgo</vt:lpstr>
      <vt:lpstr>A Transformer-Based Classification: Semantic Context Evaluation for Mobile Spam Message Detection</vt:lpstr>
      <vt:lpstr>Outline</vt:lpstr>
      <vt:lpstr>Introduction</vt:lpstr>
      <vt:lpstr>Introduction</vt:lpstr>
      <vt:lpstr>Data at a Glance</vt:lpstr>
      <vt:lpstr>Data at a Glance</vt:lpstr>
      <vt:lpstr>03 </vt:lpstr>
      <vt:lpstr>Data Exploratory Analysis</vt:lpstr>
      <vt:lpstr>Data Exploratory Analysis</vt:lpstr>
      <vt:lpstr>Data Preprocessing</vt:lpstr>
      <vt:lpstr>Data Preprocessing</vt:lpstr>
      <vt:lpstr>Baseline Models</vt:lpstr>
      <vt:lpstr>One controlled comparison: same data · same split · same metrics · same seed (42)</vt:lpstr>
      <vt:lpstr>06 </vt:lpstr>
      <vt:lpstr>BERT-base vs. DistilBERT architecture figure</vt:lpstr>
      <vt:lpstr>Baseline Models– Coding and Implementation</vt:lpstr>
      <vt:lpstr>Baseline Models</vt:lpstr>
      <vt:lpstr>08 </vt:lpstr>
      <vt:lpstr>DistilBERT Implementation</vt:lpstr>
      <vt:lpstr>Model Comparison</vt:lpstr>
      <vt:lpstr>Results and Discussion</vt:lpstr>
      <vt:lpstr>Error Analysis</vt:lpstr>
      <vt:lpstr>Error Analysis</vt:lpstr>
      <vt:lpstr>Conclusion</vt:lpstr>
      <vt:lpstr>Conclusion</vt:lpstr>
      <vt:lpstr>Recommendations</vt:lpstr>
      <vt:lpstr>Semantic Context Evaluation I</vt:lpstr>
      <vt:lpstr>Where Context Wins: Spam the Baseline Missed</vt:lpstr>
      <vt:lpstr>Semantic Context Evaluation II</vt:lpstr>
      <vt:lpstr>Avoiding False Alarms and Why DistilBERT Wins</vt:lpstr>
      <vt:lpstr>Discussion &amp; Future work</vt:lpstr>
      <vt:lpstr>Discussion, Deployment and Future Work</vt:lpstr>
      <vt:lpstr>Thanks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Transformer-Based Classification: Semantic Context Evaluation for Mobile Spam Message Detection</dc:title>
  <cp:lastModifiedBy>urshishir</cp:lastModifiedBy>
  <cp:revision>53</cp:revision>
  <dcterms:modified xsi:type="dcterms:W3CDTF">2026-10-10T11:47:45Z</dcterms:modified>
</cp:coreProperties>
</file>